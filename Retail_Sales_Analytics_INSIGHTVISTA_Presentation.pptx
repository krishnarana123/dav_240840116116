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0" r:id="rId6"/>
    <p:sldId id="260" r:id="rId7"/>
    <p:sldId id="266" r:id="rId8"/>
    <p:sldId id="267" r:id="rId9"/>
    <p:sldId id="268" r:id="rId10"/>
    <p:sldId id="269" r:id="rId11"/>
    <p:sldId id="261" r:id="rId12"/>
    <p:sldId id="262" r:id="rId13"/>
    <p:sldId id="263" r:id="rId14"/>
    <p:sldId id="264" r:id="rId15"/>
    <p:sldId id="26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54F"/>
        </a:solidFill>
        <a:effectLst/>
      </p:bgPr>
    </p:bg>
    <p:spTree>
      <p:nvGrpSpPr>
        <p:cNvPr id="1" name=""/>
        <p:cNvGrpSpPr/>
        <p:nvPr/>
      </p:nvGrpSpPr>
      <p:grpSpPr>
        <a:xfrm>
          <a:off x="0" y="0"/>
          <a:ext cx="0" cy="0"/>
          <a:chOff x="0" y="0"/>
          <a:chExt cx="0" cy="0"/>
        </a:xfrm>
      </p:grpSpPr>
      <p:sp>
        <p:nvSpPr>
          <p:cNvPr id="2" name="Rectangle 1"/>
          <p:cNvSpPr/>
          <p:nvPr/>
        </p:nvSpPr>
        <p:spPr>
          <a:xfrm>
            <a:off x="8778240" y="0"/>
            <a:ext cx="3429000" cy="6858000"/>
          </a:xfrm>
          <a:prstGeom prst="rect">
            <a:avLst/>
          </a:prstGeom>
          <a:solidFill>
            <a:srgbClr val="183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326880" y="1097280"/>
            <a:ext cx="2194560" cy="146304"/>
          </a:xfrm>
          <a:prstGeom prst="round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1508760"/>
            <a:ext cx="1645920" cy="146304"/>
          </a:xfrm>
          <a:prstGeom prst="roundRect">
            <a:avLst/>
          </a:prstGeom>
          <a:solidFill>
            <a:srgbClr val="34C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326880" y="1920240"/>
            <a:ext cx="2560320" cy="146304"/>
          </a:xfrm>
          <a:prstGeom prst="roundRect">
            <a:avLst/>
          </a:prstGeom>
          <a:solidFill>
            <a:srgbClr val="F46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326880" y="2331720"/>
            <a:ext cx="1554480" cy="146304"/>
          </a:xfrm>
          <a:prstGeom prst="roundRect">
            <a:avLst/>
          </a:prstGeom>
          <a:solidFill>
            <a:srgbClr val="239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0" y="2743200"/>
            <a:ext cx="2103120" cy="146304"/>
          </a:xfrm>
          <a:prstGeom prst="round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658368"/>
            <a:ext cx="7223760" cy="365760"/>
          </a:xfrm>
          <a:prstGeom prst="rect">
            <a:avLst/>
          </a:prstGeom>
          <a:noFill/>
        </p:spPr>
        <p:txBody>
          <a:bodyPr wrap="square" lIns="36576" tIns="27432" rIns="36576" bIns="18288" anchor="t">
            <a:spAutoFit/>
          </a:bodyPr>
          <a:lstStyle/>
          <a:p>
            <a:pPr algn="l"/>
            <a:r>
              <a:rPr sz="1500" b="1">
                <a:solidFill>
                  <a:srgbClr val="34C2E8"/>
                </a:solidFill>
                <a:latin typeface="Aptos"/>
              </a:rPr>
              <a:t>INSIGHTVISTA 2026</a:t>
            </a:r>
          </a:p>
        </p:txBody>
      </p:sp>
      <p:sp>
        <p:nvSpPr>
          <p:cNvPr id="9" name="TextBox 8"/>
          <p:cNvSpPr txBox="1"/>
          <p:nvPr/>
        </p:nvSpPr>
        <p:spPr>
          <a:xfrm>
            <a:off x="685800" y="1417320"/>
            <a:ext cx="7498079" cy="1277273"/>
          </a:xfrm>
          <a:prstGeom prst="rect">
            <a:avLst/>
          </a:prstGeom>
          <a:noFill/>
        </p:spPr>
        <p:txBody>
          <a:bodyPr wrap="square" lIns="36576" tIns="27432" rIns="36576" bIns="18288" anchor="t">
            <a:spAutoFit/>
          </a:bodyPr>
          <a:lstStyle/>
          <a:p>
            <a:pPr algn="l"/>
            <a:r>
              <a:rPr sz="4000" b="1" dirty="0">
                <a:solidFill>
                  <a:srgbClr val="FFFFFF"/>
                </a:solidFill>
                <a:latin typeface="Aptos"/>
              </a:rPr>
              <a:t>RETAIL SALES
ANALYTICS</a:t>
            </a:r>
          </a:p>
        </p:txBody>
      </p:sp>
      <p:sp>
        <p:nvSpPr>
          <p:cNvPr id="14" name="TextBox 13">
            <a:extLst>
              <a:ext uri="{FF2B5EF4-FFF2-40B4-BE49-F238E27FC236}">
                <a16:creationId xmlns:a16="http://schemas.microsoft.com/office/drawing/2014/main" id="{F0EC4B72-F62D-5590-BA25-8EDCC35C9C12}"/>
              </a:ext>
            </a:extLst>
          </p:cNvPr>
          <p:cNvSpPr txBox="1"/>
          <p:nvPr/>
        </p:nvSpPr>
        <p:spPr>
          <a:xfrm>
            <a:off x="685800" y="4022296"/>
            <a:ext cx="2882328" cy="461665"/>
          </a:xfrm>
          <a:prstGeom prst="rect">
            <a:avLst/>
          </a:prstGeom>
          <a:noFill/>
        </p:spPr>
        <p:txBody>
          <a:bodyPr wrap="none" rtlCol="0">
            <a:spAutoFit/>
          </a:bodyPr>
          <a:lstStyle/>
          <a:p>
            <a:r>
              <a:rPr lang="en-IN" sz="2400" dirty="0" err="1">
                <a:solidFill>
                  <a:schemeClr val="bg1"/>
                </a:solidFill>
              </a:rPr>
              <a:t>GroupName</a:t>
            </a:r>
            <a:r>
              <a:rPr lang="en-IN" sz="2400" dirty="0">
                <a:solidFill>
                  <a:schemeClr val="bg1"/>
                </a:solidFill>
              </a:rPr>
              <a:t>:- </a:t>
            </a:r>
            <a:r>
              <a:rPr lang="en-IN" sz="2400" dirty="0" err="1">
                <a:solidFill>
                  <a:schemeClr val="bg1"/>
                </a:solidFill>
              </a:rPr>
              <a:t>ByteViz</a:t>
            </a:r>
            <a:endParaRPr lang="en-IN" sz="2400" dirty="0">
              <a:solidFill>
                <a:schemeClr val="bg1"/>
              </a:solidFill>
            </a:endParaRPr>
          </a:p>
        </p:txBody>
      </p:sp>
      <p:sp>
        <p:nvSpPr>
          <p:cNvPr id="15" name="TextBox 14">
            <a:extLst>
              <a:ext uri="{FF2B5EF4-FFF2-40B4-BE49-F238E27FC236}">
                <a16:creationId xmlns:a16="http://schemas.microsoft.com/office/drawing/2014/main" id="{C0C3B7D3-B416-0F42-B179-53B965F17331}"/>
              </a:ext>
            </a:extLst>
          </p:cNvPr>
          <p:cNvSpPr txBox="1"/>
          <p:nvPr/>
        </p:nvSpPr>
        <p:spPr>
          <a:xfrm>
            <a:off x="685800" y="4503174"/>
            <a:ext cx="2170787" cy="1477328"/>
          </a:xfrm>
          <a:prstGeom prst="rect">
            <a:avLst/>
          </a:prstGeom>
          <a:noFill/>
        </p:spPr>
        <p:txBody>
          <a:bodyPr wrap="none" rtlCol="0">
            <a:spAutoFit/>
          </a:bodyPr>
          <a:lstStyle/>
          <a:p>
            <a:r>
              <a:rPr lang="en-IN" dirty="0">
                <a:solidFill>
                  <a:schemeClr val="bg1"/>
                </a:solidFill>
              </a:rPr>
              <a:t>PEN:- 240840116017</a:t>
            </a:r>
          </a:p>
          <a:p>
            <a:r>
              <a:rPr lang="en-IN" dirty="0">
                <a:solidFill>
                  <a:schemeClr val="bg1"/>
                </a:solidFill>
              </a:rPr>
              <a:t>           240840116024</a:t>
            </a:r>
          </a:p>
          <a:p>
            <a:r>
              <a:rPr lang="en-IN" dirty="0">
                <a:solidFill>
                  <a:schemeClr val="bg1"/>
                </a:solidFill>
              </a:rPr>
              <a:t>           240840116054</a:t>
            </a:r>
          </a:p>
          <a:p>
            <a:r>
              <a:rPr lang="en-IN" dirty="0">
                <a:solidFill>
                  <a:schemeClr val="bg1"/>
                </a:solidFill>
              </a:rPr>
              <a:t>           240840116116</a:t>
            </a:r>
          </a:p>
          <a:p>
            <a:r>
              <a:rPr lang="en-IN" dirty="0">
                <a:solidFill>
                  <a:schemeClr val="bg1"/>
                </a:solidFill>
              </a:rPr>
              <a:t>           240840116139</a:t>
            </a:r>
          </a:p>
        </p:txBody>
      </p:sp>
      <p:sp>
        <p:nvSpPr>
          <p:cNvPr id="16" name="TextBox 15">
            <a:extLst>
              <a:ext uri="{FF2B5EF4-FFF2-40B4-BE49-F238E27FC236}">
                <a16:creationId xmlns:a16="http://schemas.microsoft.com/office/drawing/2014/main" id="{563DE097-877A-F8BF-1CBE-39E1D4E34836}"/>
              </a:ext>
            </a:extLst>
          </p:cNvPr>
          <p:cNvSpPr txBox="1"/>
          <p:nvPr/>
        </p:nvSpPr>
        <p:spPr>
          <a:xfrm>
            <a:off x="685800" y="3643358"/>
            <a:ext cx="5333896" cy="400110"/>
          </a:xfrm>
          <a:prstGeom prst="rect">
            <a:avLst/>
          </a:prstGeom>
          <a:noFill/>
        </p:spPr>
        <p:txBody>
          <a:bodyPr wrap="none" rtlCol="0">
            <a:spAutoFit/>
          </a:bodyPr>
          <a:lstStyle/>
          <a:p>
            <a:r>
              <a:rPr lang="en-IN" sz="2000" dirty="0">
                <a:solidFill>
                  <a:schemeClr val="bg1"/>
                </a:solidFill>
              </a:rPr>
              <a:t>Subject:- Data Analytics and Visualization(1IT508)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square" lIns="36576" tIns="27432" rIns="36576" bIns="18288" anchor="t">
            <a:spAutoFit/>
          </a:bodyPr>
          <a:lstStyle/>
          <a:p>
            <a:pPr algn="l"/>
            <a:r>
              <a:rPr sz="2800" b="1">
                <a:solidFill>
                  <a:srgbClr val="13254F"/>
                </a:solidFill>
                <a:latin typeface="Aptos"/>
              </a:rPr>
              <a:t>1. Problem &amp; Objective</a:t>
            </a:r>
          </a:p>
        </p:txBody>
      </p:sp>
      <p:sp>
        <p:nvSpPr>
          <p:cNvPr id="3" name="Rectangle 2"/>
          <p:cNvSpPr/>
          <p:nvPr/>
        </p:nvSpPr>
        <p:spPr>
          <a:xfrm>
            <a:off x="530352" y="941832"/>
            <a:ext cx="1051560" cy="50292"/>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91640"/>
            <a:ext cx="4389120" cy="274320"/>
          </a:xfrm>
          <a:prstGeom prst="rect">
            <a:avLst/>
          </a:prstGeom>
          <a:noFill/>
        </p:spPr>
        <p:txBody>
          <a:bodyPr wrap="square" lIns="36576" tIns="27432" rIns="36576" bIns="18288" anchor="t">
            <a:spAutoFit/>
          </a:bodyPr>
          <a:lstStyle/>
          <a:p>
            <a:pPr algn="l"/>
            <a:r>
              <a:rPr sz="1200" b="1">
                <a:solidFill>
                  <a:srgbClr val="1989FF"/>
                </a:solidFill>
                <a:latin typeface="Aptos"/>
              </a:rPr>
              <a:t>THE BUSINESS QUESTION</a:t>
            </a:r>
          </a:p>
        </p:txBody>
      </p:sp>
      <p:sp>
        <p:nvSpPr>
          <p:cNvPr id="7" name="TextBox 6"/>
          <p:cNvSpPr txBox="1"/>
          <p:nvPr/>
        </p:nvSpPr>
        <p:spPr>
          <a:xfrm>
            <a:off x="685800" y="2057400"/>
            <a:ext cx="4754880" cy="1234440"/>
          </a:xfrm>
          <a:prstGeom prst="rect">
            <a:avLst/>
          </a:prstGeom>
          <a:noFill/>
        </p:spPr>
        <p:txBody>
          <a:bodyPr wrap="square" lIns="36576" tIns="27432" rIns="36576" bIns="18288" anchor="t">
            <a:spAutoFit/>
          </a:bodyPr>
          <a:lstStyle/>
          <a:p>
            <a:pPr algn="l"/>
            <a:r>
              <a:rPr sz="2400" b="1">
                <a:solidFill>
                  <a:srgbClr val="13254F"/>
                </a:solidFill>
                <a:latin typeface="Aptos"/>
              </a:rPr>
              <a:t>What patterns in retail transactions can help a business understand sales performance and customer behaviour?</a:t>
            </a:r>
          </a:p>
        </p:txBody>
      </p:sp>
      <p:sp>
        <p:nvSpPr>
          <p:cNvPr id="8" name="TextBox 7"/>
          <p:cNvSpPr txBox="1"/>
          <p:nvPr/>
        </p:nvSpPr>
        <p:spPr>
          <a:xfrm>
            <a:off x="5989320" y="1874519"/>
            <a:ext cx="5212080" cy="3017520"/>
          </a:xfrm>
          <a:prstGeom prst="rect">
            <a:avLst/>
          </a:prstGeom>
          <a:noFill/>
        </p:spPr>
        <p:txBody>
          <a:bodyPr wrap="square" lIns="54864" tIns="36576" rIns="45720" bIns="18288">
            <a:spAutoFit/>
          </a:bodyPr>
          <a:lstStyle/>
          <a:p>
            <a:pPr>
              <a:spcAft>
                <a:spcPts val="800"/>
              </a:spcAft>
              <a:defRPr sz="1700">
                <a:solidFill>
                  <a:srgbClr val="28303E"/>
                </a:solidFill>
                <a:latin typeface="Aptos"/>
              </a:defRPr>
            </a:pPr>
            <a:r>
              <a:t>•  Compare revenue and quantity across product categories.</a:t>
            </a:r>
          </a:p>
          <a:p>
            <a:pPr>
              <a:spcAft>
                <a:spcPts val="800"/>
              </a:spcAft>
              <a:defRPr sz="1700">
                <a:solidFill>
                  <a:srgbClr val="28303E"/>
                </a:solidFill>
                <a:latin typeface="Aptos"/>
              </a:defRPr>
            </a:pPr>
            <a:r>
              <a:t>•  Understand monthly sales and transaction patterns.</a:t>
            </a:r>
          </a:p>
          <a:p>
            <a:pPr>
              <a:spcAft>
                <a:spcPts val="800"/>
              </a:spcAft>
              <a:defRPr sz="1700">
                <a:solidFill>
                  <a:srgbClr val="28303E"/>
                </a:solidFill>
                <a:latin typeface="Aptos"/>
              </a:defRPr>
            </a:pPr>
            <a:r>
              <a:t>•  Explore customer age and gender distribution.</a:t>
            </a:r>
          </a:p>
          <a:p>
            <a:pPr>
              <a:spcAft>
                <a:spcPts val="800"/>
              </a:spcAft>
              <a:defRPr sz="1700">
                <a:solidFill>
                  <a:srgbClr val="28303E"/>
                </a:solidFill>
                <a:latin typeface="Aptos"/>
              </a:defRPr>
            </a:pPr>
            <a:r>
              <a:t>•  Build an interactive dashboard to support quick decisions.</a:t>
            </a:r>
          </a:p>
        </p:txBody>
      </p:sp>
      <p:sp>
        <p:nvSpPr>
          <p:cNvPr id="9" name="Rounded Rectangle 8"/>
          <p:cNvSpPr/>
          <p:nvPr/>
        </p:nvSpPr>
        <p:spPr>
          <a:xfrm>
            <a:off x="685800" y="4892040"/>
            <a:ext cx="10789920" cy="82296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5074920"/>
            <a:ext cx="1143000" cy="228600"/>
          </a:xfrm>
          <a:prstGeom prst="rect">
            <a:avLst/>
          </a:prstGeom>
          <a:noFill/>
        </p:spPr>
        <p:txBody>
          <a:bodyPr wrap="square" lIns="36576" tIns="27432" rIns="36576" bIns="18288" anchor="t">
            <a:spAutoFit/>
          </a:bodyPr>
          <a:lstStyle/>
          <a:p>
            <a:pPr algn="l"/>
            <a:r>
              <a:rPr sz="1100" b="1">
                <a:solidFill>
                  <a:srgbClr val="1989FF"/>
                </a:solidFill>
                <a:latin typeface="Aptos"/>
              </a:rPr>
              <a:t>OBJECTIVE</a:t>
            </a:r>
          </a:p>
        </p:txBody>
      </p:sp>
      <p:sp>
        <p:nvSpPr>
          <p:cNvPr id="11" name="TextBox 10"/>
          <p:cNvSpPr txBox="1"/>
          <p:nvPr/>
        </p:nvSpPr>
        <p:spPr>
          <a:xfrm>
            <a:off x="2057400" y="5010912"/>
            <a:ext cx="8869680" cy="411480"/>
          </a:xfrm>
          <a:prstGeom prst="rect">
            <a:avLst/>
          </a:prstGeom>
          <a:noFill/>
        </p:spPr>
        <p:txBody>
          <a:bodyPr wrap="square" lIns="36576" tIns="27432" rIns="36576" bIns="18288" anchor="t">
            <a:spAutoFit/>
          </a:bodyPr>
          <a:lstStyle/>
          <a:p>
            <a:pPr algn="l"/>
            <a:r>
              <a:rPr sz="1700" b="1">
                <a:solidFill>
                  <a:srgbClr val="28303E"/>
                </a:solidFill>
                <a:latin typeface="Aptos"/>
              </a:rPr>
              <a:t>Turn raw sales records into a clear, evidence-based story for retail decision-making.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square" lIns="36576" tIns="27432" rIns="36576" bIns="18288" anchor="t">
            <a:spAutoFit/>
          </a:bodyPr>
          <a:lstStyle/>
          <a:p>
            <a:pPr algn="l"/>
            <a:r>
              <a:rPr sz="2800" b="1">
                <a:solidFill>
                  <a:srgbClr val="13254F"/>
                </a:solidFill>
                <a:latin typeface="Aptos"/>
              </a:rPr>
              <a:t>2. Understanding the Dataset</a:t>
            </a:r>
          </a:p>
        </p:txBody>
      </p:sp>
      <p:sp>
        <p:nvSpPr>
          <p:cNvPr id="3" name="Rectangle 2"/>
          <p:cNvSpPr/>
          <p:nvPr/>
        </p:nvSpPr>
        <p:spPr>
          <a:xfrm>
            <a:off x="530352" y="941832"/>
            <a:ext cx="1051560" cy="50292"/>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600200"/>
            <a:ext cx="256032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600200"/>
            <a:ext cx="73152" cy="1234440"/>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737360"/>
            <a:ext cx="2240279" cy="256032"/>
          </a:xfrm>
          <a:prstGeom prst="rect">
            <a:avLst/>
          </a:prstGeom>
          <a:noFill/>
        </p:spPr>
        <p:txBody>
          <a:bodyPr wrap="square" lIns="36576" tIns="27432" rIns="36576" bIns="18288" anchor="t">
            <a:spAutoFit/>
          </a:bodyPr>
          <a:lstStyle/>
          <a:p>
            <a:pPr algn="l"/>
            <a:r>
              <a:rPr sz="1000" b="1">
                <a:solidFill>
                  <a:srgbClr val="646E7D"/>
                </a:solidFill>
                <a:latin typeface="Aptos"/>
              </a:rPr>
              <a:t>TRANSACTIONS</a:t>
            </a:r>
          </a:p>
        </p:txBody>
      </p:sp>
      <p:sp>
        <p:nvSpPr>
          <p:cNvPr id="9" name="TextBox 8"/>
          <p:cNvSpPr txBox="1"/>
          <p:nvPr/>
        </p:nvSpPr>
        <p:spPr>
          <a:xfrm>
            <a:off x="868680" y="2039112"/>
            <a:ext cx="2240279" cy="438912"/>
          </a:xfrm>
          <a:prstGeom prst="rect">
            <a:avLst/>
          </a:prstGeom>
          <a:noFill/>
        </p:spPr>
        <p:txBody>
          <a:bodyPr wrap="square" lIns="36576" tIns="27432" rIns="36576" bIns="18288" anchor="t">
            <a:spAutoFit/>
          </a:bodyPr>
          <a:lstStyle/>
          <a:p>
            <a:pPr algn="l"/>
            <a:r>
              <a:rPr sz="2500" b="1">
                <a:solidFill>
                  <a:srgbClr val="13254F"/>
                </a:solidFill>
                <a:latin typeface="Aptos"/>
              </a:rPr>
              <a:t>1,000</a:t>
            </a:r>
          </a:p>
        </p:txBody>
      </p:sp>
      <p:sp>
        <p:nvSpPr>
          <p:cNvPr id="10" name="TextBox 9"/>
          <p:cNvSpPr txBox="1"/>
          <p:nvPr/>
        </p:nvSpPr>
        <p:spPr>
          <a:xfrm>
            <a:off x="868680" y="2514600"/>
            <a:ext cx="2240279" cy="201168"/>
          </a:xfrm>
          <a:prstGeom prst="rect">
            <a:avLst/>
          </a:prstGeom>
          <a:noFill/>
        </p:spPr>
        <p:txBody>
          <a:bodyPr wrap="square" lIns="36576" tIns="27432" rIns="36576" bIns="18288" anchor="t">
            <a:spAutoFit/>
          </a:bodyPr>
          <a:lstStyle/>
          <a:p>
            <a:pPr algn="l"/>
            <a:r>
              <a:rPr sz="900" b="0">
                <a:solidFill>
                  <a:srgbClr val="646E7D"/>
                </a:solidFill>
                <a:latin typeface="Aptos"/>
              </a:rPr>
              <a:t>Unique transaction IDs</a:t>
            </a:r>
          </a:p>
        </p:txBody>
      </p:sp>
      <p:sp>
        <p:nvSpPr>
          <p:cNvPr id="11" name="Rounded Rectangle 10"/>
          <p:cNvSpPr/>
          <p:nvPr/>
        </p:nvSpPr>
        <p:spPr>
          <a:xfrm>
            <a:off x="3429000" y="1600200"/>
            <a:ext cx="256032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29000" y="1600200"/>
            <a:ext cx="73152" cy="1234440"/>
          </a:xfrm>
          <a:prstGeom prst="rect">
            <a:avLst/>
          </a:prstGeom>
          <a:solidFill>
            <a:srgbClr val="34C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1737360"/>
            <a:ext cx="2240279" cy="256032"/>
          </a:xfrm>
          <a:prstGeom prst="rect">
            <a:avLst/>
          </a:prstGeom>
          <a:noFill/>
        </p:spPr>
        <p:txBody>
          <a:bodyPr wrap="square" lIns="36576" tIns="27432" rIns="36576" bIns="18288" anchor="t">
            <a:spAutoFit/>
          </a:bodyPr>
          <a:lstStyle/>
          <a:p>
            <a:pPr algn="l"/>
            <a:r>
              <a:rPr sz="1000" b="1">
                <a:solidFill>
                  <a:srgbClr val="646E7D"/>
                </a:solidFill>
                <a:latin typeface="Aptos"/>
              </a:rPr>
              <a:t>CUSTOMERS</a:t>
            </a:r>
          </a:p>
        </p:txBody>
      </p:sp>
      <p:sp>
        <p:nvSpPr>
          <p:cNvPr id="14" name="TextBox 13"/>
          <p:cNvSpPr txBox="1"/>
          <p:nvPr/>
        </p:nvSpPr>
        <p:spPr>
          <a:xfrm>
            <a:off x="3611880" y="2039112"/>
            <a:ext cx="2240279" cy="438912"/>
          </a:xfrm>
          <a:prstGeom prst="rect">
            <a:avLst/>
          </a:prstGeom>
          <a:noFill/>
        </p:spPr>
        <p:txBody>
          <a:bodyPr wrap="square" lIns="36576" tIns="27432" rIns="36576" bIns="18288" anchor="t">
            <a:spAutoFit/>
          </a:bodyPr>
          <a:lstStyle/>
          <a:p>
            <a:pPr algn="l"/>
            <a:r>
              <a:rPr sz="2500" b="1">
                <a:solidFill>
                  <a:srgbClr val="13254F"/>
                </a:solidFill>
                <a:latin typeface="Aptos"/>
              </a:rPr>
              <a:t>1,000</a:t>
            </a:r>
          </a:p>
        </p:txBody>
      </p:sp>
      <p:sp>
        <p:nvSpPr>
          <p:cNvPr id="15" name="TextBox 14"/>
          <p:cNvSpPr txBox="1"/>
          <p:nvPr/>
        </p:nvSpPr>
        <p:spPr>
          <a:xfrm>
            <a:off x="3611880" y="2514600"/>
            <a:ext cx="2240279" cy="201168"/>
          </a:xfrm>
          <a:prstGeom prst="rect">
            <a:avLst/>
          </a:prstGeom>
          <a:noFill/>
        </p:spPr>
        <p:txBody>
          <a:bodyPr wrap="square" lIns="36576" tIns="27432" rIns="36576" bIns="18288" anchor="t">
            <a:spAutoFit/>
          </a:bodyPr>
          <a:lstStyle/>
          <a:p>
            <a:pPr algn="l"/>
            <a:r>
              <a:rPr sz="900" b="0">
                <a:solidFill>
                  <a:srgbClr val="646E7D"/>
                </a:solidFill>
                <a:latin typeface="Aptos"/>
              </a:rPr>
              <a:t>Unique customer IDs</a:t>
            </a:r>
          </a:p>
        </p:txBody>
      </p:sp>
      <p:sp>
        <p:nvSpPr>
          <p:cNvPr id="16" name="Rounded Rectangle 15"/>
          <p:cNvSpPr/>
          <p:nvPr/>
        </p:nvSpPr>
        <p:spPr>
          <a:xfrm>
            <a:off x="6172200" y="1600200"/>
            <a:ext cx="256032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1600200"/>
            <a:ext cx="73152" cy="1234440"/>
          </a:xfrm>
          <a:prstGeom prst="rect">
            <a:avLst/>
          </a:prstGeom>
          <a:solidFill>
            <a:srgbClr val="F46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1737360"/>
            <a:ext cx="2240279" cy="256032"/>
          </a:xfrm>
          <a:prstGeom prst="rect">
            <a:avLst/>
          </a:prstGeom>
          <a:noFill/>
        </p:spPr>
        <p:txBody>
          <a:bodyPr wrap="square" lIns="36576" tIns="27432" rIns="36576" bIns="18288" anchor="t">
            <a:spAutoFit/>
          </a:bodyPr>
          <a:lstStyle/>
          <a:p>
            <a:pPr algn="l"/>
            <a:r>
              <a:rPr sz="1000" b="1">
                <a:solidFill>
                  <a:srgbClr val="646E7D"/>
                </a:solidFill>
                <a:latin typeface="Aptos"/>
              </a:rPr>
              <a:t>TOTAL SALES</a:t>
            </a:r>
          </a:p>
        </p:txBody>
      </p:sp>
      <p:sp>
        <p:nvSpPr>
          <p:cNvPr id="19" name="TextBox 18"/>
          <p:cNvSpPr txBox="1"/>
          <p:nvPr/>
        </p:nvSpPr>
        <p:spPr>
          <a:xfrm>
            <a:off x="6355080" y="2039112"/>
            <a:ext cx="2240279" cy="438912"/>
          </a:xfrm>
          <a:prstGeom prst="rect">
            <a:avLst/>
          </a:prstGeom>
          <a:noFill/>
        </p:spPr>
        <p:txBody>
          <a:bodyPr wrap="square" lIns="36576" tIns="27432" rIns="36576" bIns="18288" anchor="t">
            <a:spAutoFit/>
          </a:bodyPr>
          <a:lstStyle/>
          <a:p>
            <a:pPr algn="l"/>
            <a:r>
              <a:rPr sz="2500" b="1">
                <a:solidFill>
                  <a:srgbClr val="13254F"/>
                </a:solidFill>
                <a:latin typeface="Aptos"/>
              </a:rPr>
              <a:t>456,000</a:t>
            </a:r>
          </a:p>
        </p:txBody>
      </p:sp>
      <p:sp>
        <p:nvSpPr>
          <p:cNvPr id="20" name="TextBox 19"/>
          <p:cNvSpPr txBox="1"/>
          <p:nvPr/>
        </p:nvSpPr>
        <p:spPr>
          <a:xfrm>
            <a:off x="6355080" y="2514600"/>
            <a:ext cx="2240279" cy="201168"/>
          </a:xfrm>
          <a:prstGeom prst="rect">
            <a:avLst/>
          </a:prstGeom>
          <a:noFill/>
        </p:spPr>
        <p:txBody>
          <a:bodyPr wrap="square" lIns="36576" tIns="27432" rIns="36576" bIns="18288" anchor="t">
            <a:spAutoFit/>
          </a:bodyPr>
          <a:lstStyle/>
          <a:p>
            <a:pPr algn="l"/>
            <a:r>
              <a:rPr sz="900" b="0">
                <a:solidFill>
                  <a:srgbClr val="646E7D"/>
                </a:solidFill>
                <a:latin typeface="Aptos"/>
              </a:rPr>
              <a:t>Dataset currency not specified</a:t>
            </a:r>
          </a:p>
        </p:txBody>
      </p:sp>
      <p:sp>
        <p:nvSpPr>
          <p:cNvPr id="21" name="Rounded Rectangle 20"/>
          <p:cNvSpPr/>
          <p:nvPr/>
        </p:nvSpPr>
        <p:spPr>
          <a:xfrm>
            <a:off x="8915400" y="1600200"/>
            <a:ext cx="256032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15400" y="1600200"/>
            <a:ext cx="73152" cy="1234440"/>
          </a:xfrm>
          <a:prstGeom prst="rect">
            <a:avLst/>
          </a:prstGeom>
          <a:solidFill>
            <a:srgbClr val="239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8280" y="1737360"/>
            <a:ext cx="2240279" cy="256032"/>
          </a:xfrm>
          <a:prstGeom prst="rect">
            <a:avLst/>
          </a:prstGeom>
          <a:noFill/>
        </p:spPr>
        <p:txBody>
          <a:bodyPr wrap="square" lIns="36576" tIns="27432" rIns="36576" bIns="18288" anchor="t">
            <a:spAutoFit/>
          </a:bodyPr>
          <a:lstStyle/>
          <a:p>
            <a:pPr algn="l"/>
            <a:r>
              <a:rPr sz="1000" b="1">
                <a:solidFill>
                  <a:srgbClr val="646E7D"/>
                </a:solidFill>
                <a:latin typeface="Aptos"/>
              </a:rPr>
              <a:t>UNITS SOLD</a:t>
            </a:r>
          </a:p>
        </p:txBody>
      </p:sp>
      <p:sp>
        <p:nvSpPr>
          <p:cNvPr id="24" name="TextBox 23"/>
          <p:cNvSpPr txBox="1"/>
          <p:nvPr/>
        </p:nvSpPr>
        <p:spPr>
          <a:xfrm>
            <a:off x="9098280" y="2039112"/>
            <a:ext cx="2240279" cy="438912"/>
          </a:xfrm>
          <a:prstGeom prst="rect">
            <a:avLst/>
          </a:prstGeom>
          <a:noFill/>
        </p:spPr>
        <p:txBody>
          <a:bodyPr wrap="square" lIns="36576" tIns="27432" rIns="36576" bIns="18288" anchor="t">
            <a:spAutoFit/>
          </a:bodyPr>
          <a:lstStyle/>
          <a:p>
            <a:pPr algn="l"/>
            <a:r>
              <a:rPr sz="2500" b="1">
                <a:solidFill>
                  <a:srgbClr val="13254F"/>
                </a:solidFill>
                <a:latin typeface="Aptos"/>
              </a:rPr>
              <a:t>2,514</a:t>
            </a:r>
          </a:p>
        </p:txBody>
      </p:sp>
      <p:sp>
        <p:nvSpPr>
          <p:cNvPr id="25" name="TextBox 24"/>
          <p:cNvSpPr txBox="1"/>
          <p:nvPr/>
        </p:nvSpPr>
        <p:spPr>
          <a:xfrm>
            <a:off x="9098280" y="2514600"/>
            <a:ext cx="2240279" cy="201168"/>
          </a:xfrm>
          <a:prstGeom prst="rect">
            <a:avLst/>
          </a:prstGeom>
          <a:noFill/>
        </p:spPr>
        <p:txBody>
          <a:bodyPr wrap="square" lIns="36576" tIns="27432" rIns="36576" bIns="18288" anchor="t">
            <a:spAutoFit/>
          </a:bodyPr>
          <a:lstStyle/>
          <a:p>
            <a:pPr algn="l"/>
            <a:r>
              <a:rPr sz="900" b="0">
                <a:solidFill>
                  <a:srgbClr val="646E7D"/>
                </a:solidFill>
                <a:latin typeface="Aptos"/>
              </a:rPr>
              <a:t>Sum of quantity</a:t>
            </a:r>
          </a:p>
        </p:txBody>
      </p:sp>
      <p:sp>
        <p:nvSpPr>
          <p:cNvPr id="26" name="TextBox 25"/>
          <p:cNvSpPr txBox="1"/>
          <p:nvPr/>
        </p:nvSpPr>
        <p:spPr>
          <a:xfrm>
            <a:off x="731520" y="3246120"/>
            <a:ext cx="1828800" cy="274320"/>
          </a:xfrm>
          <a:prstGeom prst="rect">
            <a:avLst/>
          </a:prstGeom>
          <a:noFill/>
        </p:spPr>
        <p:txBody>
          <a:bodyPr wrap="square" lIns="36576" tIns="27432" rIns="36576" bIns="18288" anchor="t">
            <a:spAutoFit/>
          </a:bodyPr>
          <a:lstStyle/>
          <a:p>
            <a:pPr algn="l"/>
            <a:r>
              <a:rPr sz="1200" b="1">
                <a:solidFill>
                  <a:srgbClr val="1989FF"/>
                </a:solidFill>
                <a:latin typeface="Aptos"/>
              </a:rPr>
              <a:t>KEY FIELDS</a:t>
            </a:r>
          </a:p>
        </p:txBody>
      </p:sp>
      <p:sp>
        <p:nvSpPr>
          <p:cNvPr id="27" name="Rounded Rectangle 26"/>
          <p:cNvSpPr/>
          <p:nvPr/>
        </p:nvSpPr>
        <p:spPr>
          <a:xfrm>
            <a:off x="731520" y="3611880"/>
            <a:ext cx="3429000" cy="74980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7824" y="3721608"/>
            <a:ext cx="3154680" cy="228600"/>
          </a:xfrm>
          <a:prstGeom prst="rect">
            <a:avLst/>
          </a:prstGeom>
          <a:noFill/>
        </p:spPr>
        <p:txBody>
          <a:bodyPr wrap="square" lIns="36576" tIns="27432" rIns="36576" bIns="18288" anchor="t">
            <a:spAutoFit/>
          </a:bodyPr>
          <a:lstStyle/>
          <a:p>
            <a:pPr algn="l"/>
            <a:r>
              <a:rPr sz="1300" b="1">
                <a:solidFill>
                  <a:srgbClr val="13254F"/>
                </a:solidFill>
                <a:latin typeface="Aptos"/>
              </a:rPr>
              <a:t>Transaction ID</a:t>
            </a:r>
          </a:p>
        </p:txBody>
      </p:sp>
      <p:sp>
        <p:nvSpPr>
          <p:cNvPr id="29" name="TextBox 28"/>
          <p:cNvSpPr txBox="1"/>
          <p:nvPr/>
        </p:nvSpPr>
        <p:spPr>
          <a:xfrm>
            <a:off x="877824" y="4005072"/>
            <a:ext cx="3154680" cy="210312"/>
          </a:xfrm>
          <a:prstGeom prst="rect">
            <a:avLst/>
          </a:prstGeom>
          <a:noFill/>
        </p:spPr>
        <p:txBody>
          <a:bodyPr wrap="square" lIns="36576" tIns="27432" rIns="36576" bIns="18288" anchor="t">
            <a:spAutoFit/>
          </a:bodyPr>
          <a:lstStyle/>
          <a:p>
            <a:pPr algn="l"/>
            <a:r>
              <a:rPr sz="1000" b="0">
                <a:solidFill>
                  <a:srgbClr val="646E7D"/>
                </a:solidFill>
                <a:latin typeface="Aptos"/>
              </a:rPr>
              <a:t>Transaction-level identifier</a:t>
            </a:r>
          </a:p>
        </p:txBody>
      </p:sp>
      <p:sp>
        <p:nvSpPr>
          <p:cNvPr id="30" name="Rounded Rectangle 29"/>
          <p:cNvSpPr/>
          <p:nvPr/>
        </p:nvSpPr>
        <p:spPr>
          <a:xfrm>
            <a:off x="4526280" y="3611880"/>
            <a:ext cx="3429000" cy="74980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72584" y="3721608"/>
            <a:ext cx="3154680" cy="228600"/>
          </a:xfrm>
          <a:prstGeom prst="rect">
            <a:avLst/>
          </a:prstGeom>
          <a:noFill/>
        </p:spPr>
        <p:txBody>
          <a:bodyPr wrap="square" lIns="36576" tIns="27432" rIns="36576" bIns="18288" anchor="t">
            <a:spAutoFit/>
          </a:bodyPr>
          <a:lstStyle/>
          <a:p>
            <a:pPr algn="l"/>
            <a:r>
              <a:rPr sz="1300" b="1">
                <a:solidFill>
                  <a:srgbClr val="13254F"/>
                </a:solidFill>
                <a:latin typeface="Aptos"/>
              </a:rPr>
              <a:t>Date</a:t>
            </a:r>
          </a:p>
        </p:txBody>
      </p:sp>
      <p:sp>
        <p:nvSpPr>
          <p:cNvPr id="32" name="TextBox 31"/>
          <p:cNvSpPr txBox="1"/>
          <p:nvPr/>
        </p:nvSpPr>
        <p:spPr>
          <a:xfrm>
            <a:off x="4672584" y="4005072"/>
            <a:ext cx="3154680" cy="210312"/>
          </a:xfrm>
          <a:prstGeom prst="rect">
            <a:avLst/>
          </a:prstGeom>
          <a:noFill/>
        </p:spPr>
        <p:txBody>
          <a:bodyPr wrap="square" lIns="36576" tIns="27432" rIns="36576" bIns="18288" anchor="t">
            <a:spAutoFit/>
          </a:bodyPr>
          <a:lstStyle/>
          <a:p>
            <a:pPr algn="l"/>
            <a:r>
              <a:rPr sz="1000" b="0">
                <a:solidFill>
                  <a:srgbClr val="646E7D"/>
                </a:solidFill>
                <a:latin typeface="Aptos"/>
              </a:rPr>
              <a:t>Time-based comparisons</a:t>
            </a:r>
          </a:p>
        </p:txBody>
      </p:sp>
      <p:sp>
        <p:nvSpPr>
          <p:cNvPr id="33" name="Rounded Rectangle 32"/>
          <p:cNvSpPr/>
          <p:nvPr/>
        </p:nvSpPr>
        <p:spPr>
          <a:xfrm>
            <a:off x="8321040" y="3611880"/>
            <a:ext cx="3429000" cy="74980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67344" y="3721608"/>
            <a:ext cx="3154680" cy="228600"/>
          </a:xfrm>
          <a:prstGeom prst="rect">
            <a:avLst/>
          </a:prstGeom>
          <a:noFill/>
        </p:spPr>
        <p:txBody>
          <a:bodyPr wrap="square" lIns="36576" tIns="27432" rIns="36576" bIns="18288" anchor="t">
            <a:spAutoFit/>
          </a:bodyPr>
          <a:lstStyle/>
          <a:p>
            <a:pPr algn="l"/>
            <a:r>
              <a:rPr sz="1300" b="1">
                <a:solidFill>
                  <a:srgbClr val="13254F"/>
                </a:solidFill>
                <a:latin typeface="Aptos"/>
              </a:rPr>
              <a:t>Customer ID</a:t>
            </a:r>
          </a:p>
        </p:txBody>
      </p:sp>
      <p:sp>
        <p:nvSpPr>
          <p:cNvPr id="35" name="TextBox 34"/>
          <p:cNvSpPr txBox="1"/>
          <p:nvPr/>
        </p:nvSpPr>
        <p:spPr>
          <a:xfrm>
            <a:off x="8467344" y="4005072"/>
            <a:ext cx="3154680" cy="210312"/>
          </a:xfrm>
          <a:prstGeom prst="rect">
            <a:avLst/>
          </a:prstGeom>
          <a:noFill/>
        </p:spPr>
        <p:txBody>
          <a:bodyPr wrap="square" lIns="36576" tIns="27432" rIns="36576" bIns="18288" anchor="t">
            <a:spAutoFit/>
          </a:bodyPr>
          <a:lstStyle/>
          <a:p>
            <a:pPr algn="l"/>
            <a:r>
              <a:rPr sz="1000" b="0">
                <a:solidFill>
                  <a:srgbClr val="646E7D"/>
                </a:solidFill>
                <a:latin typeface="Aptos"/>
              </a:rPr>
              <a:t>Customer count</a:t>
            </a:r>
          </a:p>
        </p:txBody>
      </p:sp>
      <p:sp>
        <p:nvSpPr>
          <p:cNvPr id="36" name="Rounded Rectangle 35"/>
          <p:cNvSpPr/>
          <p:nvPr/>
        </p:nvSpPr>
        <p:spPr>
          <a:xfrm>
            <a:off x="731520" y="4617720"/>
            <a:ext cx="3429000" cy="74980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7824" y="4727448"/>
            <a:ext cx="3154680" cy="228600"/>
          </a:xfrm>
          <a:prstGeom prst="rect">
            <a:avLst/>
          </a:prstGeom>
          <a:noFill/>
        </p:spPr>
        <p:txBody>
          <a:bodyPr wrap="square" lIns="36576" tIns="27432" rIns="36576" bIns="18288" anchor="t">
            <a:spAutoFit/>
          </a:bodyPr>
          <a:lstStyle/>
          <a:p>
            <a:pPr algn="l"/>
            <a:r>
              <a:rPr sz="1300" b="1">
                <a:solidFill>
                  <a:srgbClr val="13254F"/>
                </a:solidFill>
                <a:latin typeface="Aptos"/>
              </a:rPr>
              <a:t>Gender &amp; Age</a:t>
            </a:r>
          </a:p>
        </p:txBody>
      </p:sp>
      <p:sp>
        <p:nvSpPr>
          <p:cNvPr id="38" name="TextBox 37"/>
          <p:cNvSpPr txBox="1"/>
          <p:nvPr/>
        </p:nvSpPr>
        <p:spPr>
          <a:xfrm>
            <a:off x="877824" y="5010912"/>
            <a:ext cx="3154680" cy="210312"/>
          </a:xfrm>
          <a:prstGeom prst="rect">
            <a:avLst/>
          </a:prstGeom>
          <a:noFill/>
        </p:spPr>
        <p:txBody>
          <a:bodyPr wrap="square" lIns="36576" tIns="27432" rIns="36576" bIns="18288" anchor="t">
            <a:spAutoFit/>
          </a:bodyPr>
          <a:lstStyle/>
          <a:p>
            <a:pPr algn="l"/>
            <a:r>
              <a:rPr sz="1000" b="0">
                <a:solidFill>
                  <a:srgbClr val="646E7D"/>
                </a:solidFill>
                <a:latin typeface="Aptos"/>
              </a:rPr>
              <a:t>Customer profile</a:t>
            </a:r>
          </a:p>
        </p:txBody>
      </p:sp>
      <p:sp>
        <p:nvSpPr>
          <p:cNvPr id="39" name="Rounded Rectangle 38"/>
          <p:cNvSpPr/>
          <p:nvPr/>
        </p:nvSpPr>
        <p:spPr>
          <a:xfrm>
            <a:off x="4526280" y="4617720"/>
            <a:ext cx="3429000" cy="74980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72584" y="4727448"/>
            <a:ext cx="3154680" cy="228600"/>
          </a:xfrm>
          <a:prstGeom prst="rect">
            <a:avLst/>
          </a:prstGeom>
          <a:noFill/>
        </p:spPr>
        <p:txBody>
          <a:bodyPr wrap="square" lIns="36576" tIns="27432" rIns="36576" bIns="18288" anchor="t">
            <a:spAutoFit/>
          </a:bodyPr>
          <a:lstStyle/>
          <a:p>
            <a:pPr algn="l"/>
            <a:r>
              <a:rPr sz="1300" b="1">
                <a:solidFill>
                  <a:srgbClr val="13254F"/>
                </a:solidFill>
                <a:latin typeface="Aptos"/>
              </a:rPr>
              <a:t>Product Category</a:t>
            </a:r>
          </a:p>
        </p:txBody>
      </p:sp>
      <p:sp>
        <p:nvSpPr>
          <p:cNvPr id="41" name="TextBox 40"/>
          <p:cNvSpPr txBox="1"/>
          <p:nvPr/>
        </p:nvSpPr>
        <p:spPr>
          <a:xfrm>
            <a:off x="4672584" y="5010912"/>
            <a:ext cx="3154680" cy="210312"/>
          </a:xfrm>
          <a:prstGeom prst="rect">
            <a:avLst/>
          </a:prstGeom>
          <a:noFill/>
        </p:spPr>
        <p:txBody>
          <a:bodyPr wrap="square" lIns="36576" tIns="27432" rIns="36576" bIns="18288" anchor="t">
            <a:spAutoFit/>
          </a:bodyPr>
          <a:lstStyle/>
          <a:p>
            <a:pPr algn="l"/>
            <a:r>
              <a:rPr sz="1000" b="0">
                <a:solidFill>
                  <a:srgbClr val="646E7D"/>
                </a:solidFill>
                <a:latin typeface="Aptos"/>
              </a:rPr>
              <a:t>Category comparison</a:t>
            </a:r>
          </a:p>
        </p:txBody>
      </p:sp>
      <p:sp>
        <p:nvSpPr>
          <p:cNvPr id="42" name="Rounded Rectangle 41"/>
          <p:cNvSpPr/>
          <p:nvPr/>
        </p:nvSpPr>
        <p:spPr>
          <a:xfrm>
            <a:off x="8321040" y="4617720"/>
            <a:ext cx="3429000" cy="74980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67344" y="4727448"/>
            <a:ext cx="3154680" cy="228600"/>
          </a:xfrm>
          <a:prstGeom prst="rect">
            <a:avLst/>
          </a:prstGeom>
          <a:noFill/>
        </p:spPr>
        <p:txBody>
          <a:bodyPr wrap="square" lIns="36576" tIns="27432" rIns="36576" bIns="18288" anchor="t">
            <a:spAutoFit/>
          </a:bodyPr>
          <a:lstStyle/>
          <a:p>
            <a:pPr algn="l"/>
            <a:r>
              <a:rPr sz="1300" b="1">
                <a:solidFill>
                  <a:srgbClr val="13254F"/>
                </a:solidFill>
                <a:latin typeface="Aptos"/>
              </a:rPr>
              <a:t>Quantity, Price per Unit, Total Amount</a:t>
            </a:r>
          </a:p>
        </p:txBody>
      </p:sp>
      <p:sp>
        <p:nvSpPr>
          <p:cNvPr id="44" name="TextBox 43"/>
          <p:cNvSpPr txBox="1"/>
          <p:nvPr/>
        </p:nvSpPr>
        <p:spPr>
          <a:xfrm>
            <a:off x="8467344" y="5010912"/>
            <a:ext cx="3154680" cy="210312"/>
          </a:xfrm>
          <a:prstGeom prst="rect">
            <a:avLst/>
          </a:prstGeom>
          <a:noFill/>
        </p:spPr>
        <p:txBody>
          <a:bodyPr wrap="square" lIns="36576" tIns="27432" rIns="36576" bIns="18288" anchor="t">
            <a:spAutoFit/>
          </a:bodyPr>
          <a:lstStyle/>
          <a:p>
            <a:pPr algn="l"/>
            <a:r>
              <a:rPr sz="1000" b="0">
                <a:solidFill>
                  <a:srgbClr val="646E7D"/>
                </a:solidFill>
                <a:latin typeface="Aptos"/>
              </a:rPr>
              <a:t>Volume and revenue measures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square" lIns="36576" tIns="27432" rIns="36576" bIns="18288" anchor="t">
            <a:spAutoFit/>
          </a:bodyPr>
          <a:lstStyle/>
          <a:p>
            <a:pPr algn="l"/>
            <a:r>
              <a:rPr sz="2800" b="1">
                <a:solidFill>
                  <a:srgbClr val="13254F"/>
                </a:solidFill>
                <a:latin typeface="Aptos"/>
              </a:rPr>
              <a:t>3. Data Preparation &amp; Analysis Approach</a:t>
            </a:r>
          </a:p>
        </p:txBody>
      </p:sp>
      <p:sp>
        <p:nvSpPr>
          <p:cNvPr id="3" name="Rectangle 2"/>
          <p:cNvSpPr/>
          <p:nvPr/>
        </p:nvSpPr>
        <p:spPr>
          <a:xfrm>
            <a:off x="530352" y="941832"/>
            <a:ext cx="1051560" cy="50292"/>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91640"/>
            <a:ext cx="4114800" cy="320040"/>
          </a:xfrm>
          <a:prstGeom prst="rect">
            <a:avLst/>
          </a:prstGeom>
          <a:noFill/>
        </p:spPr>
        <p:txBody>
          <a:bodyPr wrap="square" lIns="36576" tIns="27432" rIns="36576" bIns="18288" anchor="t">
            <a:spAutoFit/>
          </a:bodyPr>
          <a:lstStyle/>
          <a:p>
            <a:pPr algn="l"/>
            <a:r>
              <a:rPr sz="1300" b="1">
                <a:solidFill>
                  <a:srgbClr val="1989FF"/>
                </a:solidFill>
                <a:latin typeface="Aptos"/>
              </a:rPr>
              <a:t>DATA QUALITY CHECKS</a:t>
            </a:r>
          </a:p>
        </p:txBody>
      </p:sp>
      <p:sp>
        <p:nvSpPr>
          <p:cNvPr id="7" name="Rounded Rectangle 6"/>
          <p:cNvSpPr/>
          <p:nvPr/>
        </p:nvSpPr>
        <p:spPr>
          <a:xfrm>
            <a:off x="731520" y="2057400"/>
            <a:ext cx="2331720" cy="114300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057400"/>
            <a:ext cx="73152" cy="1143000"/>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194560"/>
            <a:ext cx="2011679" cy="256032"/>
          </a:xfrm>
          <a:prstGeom prst="rect">
            <a:avLst/>
          </a:prstGeom>
          <a:noFill/>
        </p:spPr>
        <p:txBody>
          <a:bodyPr wrap="square" lIns="36576" tIns="27432" rIns="36576" bIns="18288" anchor="t">
            <a:spAutoFit/>
          </a:bodyPr>
          <a:lstStyle/>
          <a:p>
            <a:pPr algn="l"/>
            <a:r>
              <a:rPr sz="1000" b="1">
                <a:solidFill>
                  <a:srgbClr val="646E7D"/>
                </a:solidFill>
                <a:latin typeface="Aptos"/>
              </a:rPr>
              <a:t>ROWS CHECKED</a:t>
            </a:r>
          </a:p>
        </p:txBody>
      </p:sp>
      <p:sp>
        <p:nvSpPr>
          <p:cNvPr id="10" name="TextBox 9"/>
          <p:cNvSpPr txBox="1"/>
          <p:nvPr/>
        </p:nvSpPr>
        <p:spPr>
          <a:xfrm>
            <a:off x="914400" y="2496312"/>
            <a:ext cx="2011679" cy="438912"/>
          </a:xfrm>
          <a:prstGeom prst="rect">
            <a:avLst/>
          </a:prstGeom>
          <a:noFill/>
        </p:spPr>
        <p:txBody>
          <a:bodyPr wrap="square" lIns="36576" tIns="27432" rIns="36576" bIns="18288" anchor="t">
            <a:spAutoFit/>
          </a:bodyPr>
          <a:lstStyle/>
          <a:p>
            <a:pPr algn="l"/>
            <a:r>
              <a:rPr sz="2500" b="1">
                <a:solidFill>
                  <a:srgbClr val="13254F"/>
                </a:solidFill>
                <a:latin typeface="Aptos"/>
              </a:rPr>
              <a:t>1,000</a:t>
            </a:r>
          </a:p>
        </p:txBody>
      </p:sp>
      <p:sp>
        <p:nvSpPr>
          <p:cNvPr id="11" name="Rounded Rectangle 10"/>
          <p:cNvSpPr/>
          <p:nvPr/>
        </p:nvSpPr>
        <p:spPr>
          <a:xfrm>
            <a:off x="3246120" y="2057400"/>
            <a:ext cx="2331720" cy="114300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46120" y="2057400"/>
            <a:ext cx="73152" cy="1143000"/>
          </a:xfrm>
          <a:prstGeom prst="rect">
            <a:avLst/>
          </a:prstGeom>
          <a:solidFill>
            <a:srgbClr val="239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9000" y="2194560"/>
            <a:ext cx="2011679" cy="256032"/>
          </a:xfrm>
          <a:prstGeom prst="rect">
            <a:avLst/>
          </a:prstGeom>
          <a:noFill/>
        </p:spPr>
        <p:txBody>
          <a:bodyPr wrap="square" lIns="36576" tIns="27432" rIns="36576" bIns="18288" anchor="t">
            <a:spAutoFit/>
          </a:bodyPr>
          <a:lstStyle/>
          <a:p>
            <a:pPr algn="l"/>
            <a:r>
              <a:rPr sz="1000" b="1">
                <a:solidFill>
                  <a:srgbClr val="646E7D"/>
                </a:solidFill>
                <a:latin typeface="Aptos"/>
              </a:rPr>
              <a:t>MISSING VALUES</a:t>
            </a:r>
          </a:p>
        </p:txBody>
      </p:sp>
      <p:sp>
        <p:nvSpPr>
          <p:cNvPr id="14" name="TextBox 13"/>
          <p:cNvSpPr txBox="1"/>
          <p:nvPr/>
        </p:nvSpPr>
        <p:spPr>
          <a:xfrm>
            <a:off x="3429000" y="2496312"/>
            <a:ext cx="2011679" cy="438912"/>
          </a:xfrm>
          <a:prstGeom prst="rect">
            <a:avLst/>
          </a:prstGeom>
          <a:noFill/>
        </p:spPr>
        <p:txBody>
          <a:bodyPr wrap="square" lIns="36576" tIns="27432" rIns="36576" bIns="18288" anchor="t">
            <a:spAutoFit/>
          </a:bodyPr>
          <a:lstStyle/>
          <a:p>
            <a:pPr algn="l"/>
            <a:r>
              <a:rPr sz="2500" b="1">
                <a:solidFill>
                  <a:srgbClr val="13254F"/>
                </a:solidFill>
                <a:latin typeface="Aptos"/>
              </a:rPr>
              <a:t>0</a:t>
            </a:r>
          </a:p>
        </p:txBody>
      </p:sp>
      <p:sp>
        <p:nvSpPr>
          <p:cNvPr id="15" name="TextBox 14"/>
          <p:cNvSpPr txBox="1"/>
          <p:nvPr/>
        </p:nvSpPr>
        <p:spPr>
          <a:xfrm>
            <a:off x="3429000" y="2880360"/>
            <a:ext cx="2011679" cy="201168"/>
          </a:xfrm>
          <a:prstGeom prst="rect">
            <a:avLst/>
          </a:prstGeom>
          <a:noFill/>
        </p:spPr>
        <p:txBody>
          <a:bodyPr wrap="square" lIns="36576" tIns="27432" rIns="36576" bIns="18288" anchor="t">
            <a:spAutoFit/>
          </a:bodyPr>
          <a:lstStyle/>
          <a:p>
            <a:pPr algn="l"/>
            <a:r>
              <a:rPr sz="900" b="0">
                <a:solidFill>
                  <a:srgbClr val="646E7D"/>
                </a:solidFill>
                <a:latin typeface="Aptos"/>
              </a:rPr>
              <a:t>Across all 9 columns</a:t>
            </a:r>
          </a:p>
        </p:txBody>
      </p:sp>
      <p:sp>
        <p:nvSpPr>
          <p:cNvPr id="16" name="Rounded Rectangle 15"/>
          <p:cNvSpPr/>
          <p:nvPr/>
        </p:nvSpPr>
        <p:spPr>
          <a:xfrm>
            <a:off x="5760720" y="2057400"/>
            <a:ext cx="2331720" cy="114300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60720" y="2057400"/>
            <a:ext cx="73152" cy="1143000"/>
          </a:xfrm>
          <a:prstGeom prst="rect">
            <a:avLst/>
          </a:prstGeom>
          <a:solidFill>
            <a:srgbClr val="34C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0" y="2194560"/>
            <a:ext cx="2011679" cy="256032"/>
          </a:xfrm>
          <a:prstGeom prst="rect">
            <a:avLst/>
          </a:prstGeom>
          <a:noFill/>
        </p:spPr>
        <p:txBody>
          <a:bodyPr wrap="square" lIns="36576" tIns="27432" rIns="36576" bIns="18288" anchor="t">
            <a:spAutoFit/>
          </a:bodyPr>
          <a:lstStyle/>
          <a:p>
            <a:pPr algn="l"/>
            <a:r>
              <a:rPr sz="1000" b="1">
                <a:solidFill>
                  <a:srgbClr val="646E7D"/>
                </a:solidFill>
                <a:latin typeface="Aptos"/>
              </a:rPr>
              <a:t>DUPLICATE ROWS</a:t>
            </a:r>
          </a:p>
        </p:txBody>
      </p:sp>
      <p:sp>
        <p:nvSpPr>
          <p:cNvPr id="19" name="TextBox 18"/>
          <p:cNvSpPr txBox="1"/>
          <p:nvPr/>
        </p:nvSpPr>
        <p:spPr>
          <a:xfrm>
            <a:off x="5943600" y="2496312"/>
            <a:ext cx="2011679" cy="438912"/>
          </a:xfrm>
          <a:prstGeom prst="rect">
            <a:avLst/>
          </a:prstGeom>
          <a:noFill/>
        </p:spPr>
        <p:txBody>
          <a:bodyPr wrap="square" lIns="36576" tIns="27432" rIns="36576" bIns="18288" anchor="t">
            <a:spAutoFit/>
          </a:bodyPr>
          <a:lstStyle/>
          <a:p>
            <a:pPr algn="l"/>
            <a:r>
              <a:rPr sz="2500" b="1">
                <a:solidFill>
                  <a:srgbClr val="13254F"/>
                </a:solidFill>
                <a:latin typeface="Aptos"/>
              </a:rPr>
              <a:t>0</a:t>
            </a:r>
          </a:p>
        </p:txBody>
      </p:sp>
      <p:sp>
        <p:nvSpPr>
          <p:cNvPr id="20" name="Rounded Rectangle 19"/>
          <p:cNvSpPr/>
          <p:nvPr/>
        </p:nvSpPr>
        <p:spPr>
          <a:xfrm>
            <a:off x="8275320" y="2057400"/>
            <a:ext cx="2743200" cy="114300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75320" y="2057400"/>
            <a:ext cx="73152" cy="1143000"/>
          </a:xfrm>
          <a:prstGeom prst="rect">
            <a:avLst/>
          </a:prstGeom>
          <a:solidFill>
            <a:srgbClr val="F46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58200" y="2194560"/>
            <a:ext cx="2423160" cy="256032"/>
          </a:xfrm>
          <a:prstGeom prst="rect">
            <a:avLst/>
          </a:prstGeom>
          <a:noFill/>
        </p:spPr>
        <p:txBody>
          <a:bodyPr wrap="square" lIns="36576" tIns="27432" rIns="36576" bIns="18288" anchor="t">
            <a:spAutoFit/>
          </a:bodyPr>
          <a:lstStyle/>
          <a:p>
            <a:pPr algn="l"/>
            <a:r>
              <a:rPr sz="1000" b="1">
                <a:solidFill>
                  <a:srgbClr val="646E7D"/>
                </a:solidFill>
                <a:latin typeface="Aptos"/>
              </a:rPr>
              <a:t>DATE RANGE</a:t>
            </a:r>
          </a:p>
        </p:txBody>
      </p:sp>
      <p:sp>
        <p:nvSpPr>
          <p:cNvPr id="23" name="TextBox 22"/>
          <p:cNvSpPr txBox="1"/>
          <p:nvPr/>
        </p:nvSpPr>
        <p:spPr>
          <a:xfrm>
            <a:off x="8458200" y="2496312"/>
            <a:ext cx="2423160" cy="353943"/>
          </a:xfrm>
          <a:prstGeom prst="rect">
            <a:avLst/>
          </a:prstGeom>
          <a:noFill/>
        </p:spPr>
        <p:txBody>
          <a:bodyPr wrap="square" lIns="36576" tIns="27432" rIns="36576" bIns="18288" anchor="t">
            <a:spAutoFit/>
          </a:bodyPr>
          <a:lstStyle/>
          <a:p>
            <a:pPr algn="l"/>
            <a:r>
              <a:rPr sz="2000" b="1" dirty="0">
                <a:solidFill>
                  <a:srgbClr val="13254F"/>
                </a:solidFill>
                <a:latin typeface="Aptos"/>
              </a:rPr>
              <a:t>Jan 2023 – Jan 2024</a:t>
            </a:r>
          </a:p>
        </p:txBody>
      </p:sp>
      <p:sp>
        <p:nvSpPr>
          <p:cNvPr id="24" name="TextBox 23"/>
          <p:cNvSpPr txBox="1"/>
          <p:nvPr/>
        </p:nvSpPr>
        <p:spPr>
          <a:xfrm>
            <a:off x="731520" y="3703320"/>
            <a:ext cx="2743200" cy="320040"/>
          </a:xfrm>
          <a:prstGeom prst="rect">
            <a:avLst/>
          </a:prstGeom>
          <a:noFill/>
        </p:spPr>
        <p:txBody>
          <a:bodyPr wrap="square" lIns="36576" tIns="27432" rIns="36576" bIns="18288" anchor="t">
            <a:spAutoFit/>
          </a:bodyPr>
          <a:lstStyle/>
          <a:p>
            <a:pPr algn="l"/>
            <a:r>
              <a:rPr sz="1300" b="1">
                <a:solidFill>
                  <a:srgbClr val="1989FF"/>
                </a:solidFill>
                <a:latin typeface="Aptos"/>
              </a:rPr>
              <a:t>ANALYTICAL STEPS</a:t>
            </a:r>
          </a:p>
        </p:txBody>
      </p:sp>
      <p:sp>
        <p:nvSpPr>
          <p:cNvPr id="25" name="TextBox 24"/>
          <p:cNvSpPr txBox="1"/>
          <p:nvPr/>
        </p:nvSpPr>
        <p:spPr>
          <a:xfrm>
            <a:off x="777240" y="4069080"/>
            <a:ext cx="10515600" cy="1309589"/>
          </a:xfrm>
          <a:prstGeom prst="rect">
            <a:avLst/>
          </a:prstGeom>
          <a:noFill/>
        </p:spPr>
        <p:txBody>
          <a:bodyPr wrap="square" lIns="54864" tIns="36576" rIns="45720" bIns="18288">
            <a:spAutoFit/>
          </a:bodyPr>
          <a:lstStyle/>
          <a:p>
            <a:pPr>
              <a:spcAft>
                <a:spcPts val="700"/>
              </a:spcAft>
              <a:defRPr sz="1600">
                <a:solidFill>
                  <a:srgbClr val="28303E"/>
                </a:solidFill>
                <a:latin typeface="Aptos"/>
              </a:defRPr>
            </a:pPr>
            <a:r>
              <a:rPr dirty="0"/>
              <a:t>•  Reviewed the dataset structure, field types, and summary statistics.</a:t>
            </a:r>
          </a:p>
          <a:p>
            <a:pPr>
              <a:spcAft>
                <a:spcPts val="700"/>
              </a:spcAft>
              <a:defRPr sz="1600">
                <a:solidFill>
                  <a:srgbClr val="28303E"/>
                </a:solidFill>
                <a:latin typeface="Aptos"/>
              </a:defRPr>
            </a:pPr>
            <a:r>
              <a:rPr dirty="0"/>
              <a:t>•  Checked missing values and duplicate records; none were found.</a:t>
            </a:r>
          </a:p>
          <a:p>
            <a:pPr>
              <a:spcAft>
                <a:spcPts val="700"/>
              </a:spcAft>
              <a:defRPr sz="1600">
                <a:solidFill>
                  <a:srgbClr val="28303E"/>
                </a:solidFill>
                <a:latin typeface="Aptos"/>
              </a:defRPr>
            </a:pPr>
            <a:r>
              <a:rPr dirty="0"/>
              <a:t>•  Converted Date to a date type for month-based grouping in analysis.</a:t>
            </a:r>
          </a:p>
          <a:p>
            <a:pPr>
              <a:spcAft>
                <a:spcPts val="700"/>
              </a:spcAft>
              <a:defRPr sz="1600">
                <a:solidFill>
                  <a:srgbClr val="28303E"/>
                </a:solidFill>
                <a:latin typeface="Aptos"/>
              </a:defRPr>
            </a:pPr>
            <a:r>
              <a:rPr dirty="0"/>
              <a:t>•  Compared totals by category, month, gender, and customer 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41B6D6-A8FD-E5DE-FB4B-5A2D41775039}"/>
              </a:ext>
            </a:extLst>
          </p:cNvPr>
          <p:cNvSpPr txBox="1"/>
          <p:nvPr/>
        </p:nvSpPr>
        <p:spPr>
          <a:xfrm>
            <a:off x="1209368" y="688258"/>
            <a:ext cx="2856103" cy="523220"/>
          </a:xfrm>
          <a:prstGeom prst="rect">
            <a:avLst/>
          </a:prstGeom>
          <a:noFill/>
        </p:spPr>
        <p:txBody>
          <a:bodyPr wrap="none" rtlCol="0">
            <a:spAutoFit/>
          </a:bodyPr>
          <a:lstStyle/>
          <a:p>
            <a:r>
              <a:rPr lang="en-IN" sz="2800" b="1" dirty="0">
                <a:latin typeface="Aptos" panose="020B0004020202020204" pitchFamily="34" charset="0"/>
              </a:rPr>
              <a:t>Final Dashboard</a:t>
            </a:r>
          </a:p>
        </p:txBody>
      </p:sp>
      <p:pic>
        <p:nvPicPr>
          <p:cNvPr id="4" name="Picture 3">
            <a:extLst>
              <a:ext uri="{FF2B5EF4-FFF2-40B4-BE49-F238E27FC236}">
                <a16:creationId xmlns:a16="http://schemas.microsoft.com/office/drawing/2014/main" id="{F3335B97-EF47-A88C-F7B0-2EF461D9A093}"/>
              </a:ext>
            </a:extLst>
          </p:cNvPr>
          <p:cNvPicPr>
            <a:picLocks noChangeAspect="1"/>
          </p:cNvPicPr>
          <p:nvPr/>
        </p:nvPicPr>
        <p:blipFill>
          <a:blip r:embed="rId2"/>
          <a:stretch>
            <a:fillRect/>
          </a:stretch>
        </p:blipFill>
        <p:spPr>
          <a:xfrm>
            <a:off x="1327355" y="1436017"/>
            <a:ext cx="9527457" cy="4733725"/>
          </a:xfrm>
          <a:prstGeom prst="rect">
            <a:avLst/>
          </a:prstGeom>
        </p:spPr>
      </p:pic>
    </p:spTree>
    <p:extLst>
      <p:ext uri="{BB962C8B-B14F-4D97-AF65-F5344CB8AC3E}">
        <p14:creationId xmlns:p14="http://schemas.microsoft.com/office/powerpoint/2010/main" val="142263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square" lIns="36576" tIns="27432" rIns="36576" bIns="18288" anchor="t">
            <a:spAutoFit/>
          </a:bodyPr>
          <a:lstStyle/>
          <a:p>
            <a:pPr algn="l"/>
            <a:r>
              <a:rPr sz="2800" b="1">
                <a:solidFill>
                  <a:srgbClr val="13254F"/>
                </a:solidFill>
                <a:latin typeface="Aptos"/>
              </a:rPr>
              <a:t>4. Power BI Dashboard</a:t>
            </a:r>
          </a:p>
        </p:txBody>
      </p:sp>
      <p:sp>
        <p:nvSpPr>
          <p:cNvPr id="3" name="Rectangle 2"/>
          <p:cNvSpPr/>
          <p:nvPr/>
        </p:nvSpPr>
        <p:spPr>
          <a:xfrm>
            <a:off x="530352" y="941832"/>
            <a:ext cx="1051560" cy="50292"/>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263640"/>
            <a:ext cx="10698480" cy="228600"/>
          </a:xfrm>
          <a:prstGeom prst="rect">
            <a:avLst/>
          </a:prstGeom>
          <a:noFill/>
        </p:spPr>
        <p:txBody>
          <a:bodyPr wrap="square" lIns="36576" tIns="27432" rIns="36576" bIns="18288" anchor="t">
            <a:spAutoFit/>
          </a:bodyPr>
          <a:lstStyle/>
          <a:p>
            <a:pPr algn="ctr"/>
            <a:r>
              <a:rPr sz="1100" b="1">
                <a:solidFill>
                  <a:srgbClr val="646E7D"/>
                </a:solidFill>
                <a:latin typeface="Aptos"/>
              </a:rPr>
              <a:t>Interactive slicers: Gender • Age • Product Category</a:t>
            </a:r>
          </a:p>
        </p:txBody>
      </p:sp>
      <p:sp>
        <p:nvSpPr>
          <p:cNvPr id="8" name="TextBox 7">
            <a:extLst>
              <a:ext uri="{FF2B5EF4-FFF2-40B4-BE49-F238E27FC236}">
                <a16:creationId xmlns:a16="http://schemas.microsoft.com/office/drawing/2014/main" id="{2B0815B0-BF59-B3F5-BF91-3B72B878AE3E}"/>
              </a:ext>
            </a:extLst>
          </p:cNvPr>
          <p:cNvSpPr txBox="1"/>
          <p:nvPr/>
        </p:nvSpPr>
        <p:spPr>
          <a:xfrm>
            <a:off x="502920" y="1321971"/>
            <a:ext cx="1734770" cy="523220"/>
          </a:xfrm>
          <a:prstGeom prst="rect">
            <a:avLst/>
          </a:prstGeom>
          <a:noFill/>
        </p:spPr>
        <p:txBody>
          <a:bodyPr wrap="none" rtlCol="0">
            <a:spAutoFit/>
          </a:bodyPr>
          <a:lstStyle/>
          <a:p>
            <a:r>
              <a:rPr lang="en-IN" sz="2800" b="1" dirty="0">
                <a:latin typeface="Aptos" panose="020B0004020202020204" pitchFamily="34" charset="0"/>
              </a:rPr>
              <a:t>Bar Chart</a:t>
            </a:r>
          </a:p>
        </p:txBody>
      </p:sp>
      <p:pic>
        <p:nvPicPr>
          <p:cNvPr id="12" name="Picture 11">
            <a:extLst>
              <a:ext uri="{FF2B5EF4-FFF2-40B4-BE49-F238E27FC236}">
                <a16:creationId xmlns:a16="http://schemas.microsoft.com/office/drawing/2014/main" id="{503B73D4-DB2E-C662-3805-916A54D2A6AF}"/>
              </a:ext>
            </a:extLst>
          </p:cNvPr>
          <p:cNvPicPr>
            <a:picLocks noChangeAspect="1"/>
          </p:cNvPicPr>
          <p:nvPr/>
        </p:nvPicPr>
        <p:blipFill>
          <a:blip r:embed="rId2"/>
          <a:stretch>
            <a:fillRect/>
          </a:stretch>
        </p:blipFill>
        <p:spPr>
          <a:xfrm>
            <a:off x="530352" y="1981821"/>
            <a:ext cx="5865925" cy="3554207"/>
          </a:xfrm>
          <a:prstGeom prst="rect">
            <a:avLst/>
          </a:prstGeom>
        </p:spPr>
      </p:pic>
      <p:sp>
        <p:nvSpPr>
          <p:cNvPr id="14" name="TextBox 13">
            <a:extLst>
              <a:ext uri="{FF2B5EF4-FFF2-40B4-BE49-F238E27FC236}">
                <a16:creationId xmlns:a16="http://schemas.microsoft.com/office/drawing/2014/main" id="{D4C18E4C-FBAA-9D83-4AEC-CFA157952021}"/>
              </a:ext>
            </a:extLst>
          </p:cNvPr>
          <p:cNvSpPr txBox="1"/>
          <p:nvPr/>
        </p:nvSpPr>
        <p:spPr>
          <a:xfrm>
            <a:off x="6709533" y="1842709"/>
            <a:ext cx="4994787" cy="4001095"/>
          </a:xfrm>
          <a:prstGeom prst="rect">
            <a:avLst/>
          </a:prstGeom>
          <a:noFill/>
        </p:spPr>
        <p:txBody>
          <a:bodyPr wrap="square">
            <a:spAutoFit/>
          </a:bodyPr>
          <a:lstStyle/>
          <a:p>
            <a:pPr>
              <a:buNone/>
            </a:pPr>
            <a:r>
              <a:rPr lang="en-IN" sz="2000" b="1" u="sng" dirty="0"/>
              <a:t>Key findings</a:t>
            </a:r>
          </a:p>
          <a:p>
            <a:pPr marL="342900" lvl="0" indent="-342900">
              <a:buFont typeface="Arial" panose="020B0604020202020204" pitchFamily="34" charset="0"/>
              <a:buChar char="•"/>
            </a:pPr>
            <a:r>
              <a:rPr lang="en-IN" dirty="0"/>
              <a:t>Customer records are spread across ages of approximately 18–64.</a:t>
            </a:r>
          </a:p>
          <a:p>
            <a:pPr marL="342900" lvl="0" indent="-342900">
              <a:buFont typeface="Arial" panose="020B0604020202020204" pitchFamily="34" charset="0"/>
              <a:buChar char="•"/>
            </a:pPr>
            <a:r>
              <a:rPr lang="en-IN" dirty="0"/>
              <a:t>The number of customer records varies by age, with several ages reaching around 30–31 records.</a:t>
            </a:r>
          </a:p>
          <a:p>
            <a:pPr marL="342900" lvl="0" indent="-342900">
              <a:buFont typeface="Arial" panose="020B0604020202020204" pitchFamily="34" charset="0"/>
              <a:buChar char="•"/>
            </a:pPr>
            <a:r>
              <a:rPr lang="en-IN" dirty="0"/>
              <a:t>There is no single age group that overwhelmingly dominates the chart.</a:t>
            </a:r>
          </a:p>
          <a:p>
            <a:pPr lvl="0"/>
            <a:endParaRPr lang="en-IN" dirty="0"/>
          </a:p>
          <a:p>
            <a:pPr>
              <a:buNone/>
            </a:pPr>
            <a:r>
              <a:rPr lang="en-IN" sz="2000" b="1" u="sng" dirty="0"/>
              <a:t>Business insight: </a:t>
            </a:r>
            <a:r>
              <a:rPr lang="en-IN" dirty="0"/>
              <a:t>The business appears to serve customers across a broad adult age range. It could explore age-based promotions, but more analysis is needed to determine which age groups spend the most.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2257A5-DFB2-7454-190C-33CB29838839}"/>
              </a:ext>
            </a:extLst>
          </p:cNvPr>
          <p:cNvSpPr txBox="1"/>
          <p:nvPr/>
        </p:nvSpPr>
        <p:spPr>
          <a:xfrm>
            <a:off x="796413" y="776748"/>
            <a:ext cx="1869423" cy="523220"/>
          </a:xfrm>
          <a:prstGeom prst="rect">
            <a:avLst/>
          </a:prstGeom>
          <a:noFill/>
        </p:spPr>
        <p:txBody>
          <a:bodyPr wrap="none" rtlCol="0">
            <a:spAutoFit/>
          </a:bodyPr>
          <a:lstStyle/>
          <a:p>
            <a:r>
              <a:rPr lang="en-IN" sz="2800" b="1" dirty="0">
                <a:latin typeface="Aptos" panose="020B0004020202020204" pitchFamily="34" charset="0"/>
              </a:rPr>
              <a:t>Line Chart</a:t>
            </a:r>
          </a:p>
        </p:txBody>
      </p:sp>
      <p:pic>
        <p:nvPicPr>
          <p:cNvPr id="4" name="Picture 3">
            <a:extLst>
              <a:ext uri="{FF2B5EF4-FFF2-40B4-BE49-F238E27FC236}">
                <a16:creationId xmlns:a16="http://schemas.microsoft.com/office/drawing/2014/main" id="{F51E5DD9-40D3-F1D5-CF19-FA3D1473DF93}"/>
              </a:ext>
            </a:extLst>
          </p:cNvPr>
          <p:cNvPicPr>
            <a:picLocks noChangeAspect="1"/>
          </p:cNvPicPr>
          <p:nvPr/>
        </p:nvPicPr>
        <p:blipFill>
          <a:blip r:embed="rId2"/>
          <a:stretch>
            <a:fillRect/>
          </a:stretch>
        </p:blipFill>
        <p:spPr>
          <a:xfrm>
            <a:off x="796413" y="1855362"/>
            <a:ext cx="5624052" cy="3719528"/>
          </a:xfrm>
          <a:prstGeom prst="rect">
            <a:avLst/>
          </a:prstGeom>
        </p:spPr>
      </p:pic>
      <p:sp>
        <p:nvSpPr>
          <p:cNvPr id="6" name="TextBox 5">
            <a:extLst>
              <a:ext uri="{FF2B5EF4-FFF2-40B4-BE49-F238E27FC236}">
                <a16:creationId xmlns:a16="http://schemas.microsoft.com/office/drawing/2014/main" id="{96E0FDC9-C020-ABAF-ACE2-05ED5062B56D}"/>
              </a:ext>
            </a:extLst>
          </p:cNvPr>
          <p:cNvSpPr txBox="1"/>
          <p:nvPr/>
        </p:nvSpPr>
        <p:spPr>
          <a:xfrm>
            <a:off x="6912077" y="1729967"/>
            <a:ext cx="5132439" cy="4278094"/>
          </a:xfrm>
          <a:prstGeom prst="rect">
            <a:avLst/>
          </a:prstGeom>
          <a:noFill/>
        </p:spPr>
        <p:txBody>
          <a:bodyPr wrap="square">
            <a:spAutoFit/>
          </a:bodyPr>
          <a:lstStyle/>
          <a:p>
            <a:pPr>
              <a:buNone/>
            </a:pPr>
            <a:r>
              <a:rPr lang="en-IN" sz="2000" b="1" u="sng" dirty="0"/>
              <a:t>Key findings</a:t>
            </a:r>
          </a:p>
          <a:p>
            <a:pPr marL="342900" lvl="0" indent="-342900">
              <a:buFont typeface="Arial" panose="020B0604020202020204" pitchFamily="34" charset="0"/>
              <a:buChar char="•"/>
            </a:pPr>
            <a:r>
              <a:rPr lang="en-IN" dirty="0"/>
              <a:t>May has the highest transaction count, at approximately 105.</a:t>
            </a:r>
          </a:p>
          <a:p>
            <a:pPr marL="342900" lvl="0" indent="-342900">
              <a:buFont typeface="Arial" panose="020B0604020202020204" pitchFamily="34" charset="0"/>
              <a:buChar char="•"/>
            </a:pPr>
            <a:r>
              <a:rPr lang="en-IN" dirty="0"/>
              <a:t>September has the lowest transaction count, at approximately 65.</a:t>
            </a:r>
          </a:p>
          <a:p>
            <a:pPr marL="342900" lvl="0" indent="-342900">
              <a:buFont typeface="Arial" panose="020B0604020202020204" pitchFamily="34" charset="0"/>
              <a:buChar char="•"/>
            </a:pPr>
            <a:r>
              <a:rPr lang="en-IN" dirty="0"/>
              <a:t>Transaction activity fluctuates across the year rather than remaining constant.</a:t>
            </a:r>
          </a:p>
          <a:p>
            <a:pPr marL="342900" lvl="0" indent="-342900">
              <a:buFont typeface="Arial" panose="020B0604020202020204" pitchFamily="34" charset="0"/>
              <a:buChar char="•"/>
            </a:pPr>
            <a:r>
              <a:rPr lang="en-IN" dirty="0"/>
              <a:t>August and October also show relatively high activity, at approximately 94 and 96 transactions.</a:t>
            </a:r>
          </a:p>
          <a:p>
            <a:pPr lvl="0"/>
            <a:endParaRPr lang="en-IN" dirty="0"/>
          </a:p>
          <a:p>
            <a:pPr>
              <a:buNone/>
            </a:pPr>
            <a:r>
              <a:rPr lang="en-IN" sz="2000" b="1" u="sng" dirty="0"/>
              <a:t>Business insight: </a:t>
            </a:r>
            <a:r>
              <a:rPr lang="en-IN" dirty="0"/>
              <a:t>May appears to be a strong month for transaction activity, while September may require further investigation. Comparing these patterns with promotions, holidays, and stock availability could help explain the differences.</a:t>
            </a:r>
          </a:p>
        </p:txBody>
      </p:sp>
    </p:spTree>
    <p:extLst>
      <p:ext uri="{BB962C8B-B14F-4D97-AF65-F5344CB8AC3E}">
        <p14:creationId xmlns:p14="http://schemas.microsoft.com/office/powerpoint/2010/main" val="2566950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6971AA-F2E4-31D3-C6B8-8AE3E3CF0C4B}"/>
              </a:ext>
            </a:extLst>
          </p:cNvPr>
          <p:cNvSpPr txBox="1"/>
          <p:nvPr/>
        </p:nvSpPr>
        <p:spPr>
          <a:xfrm>
            <a:off x="825910" y="1061884"/>
            <a:ext cx="2183611" cy="523220"/>
          </a:xfrm>
          <a:prstGeom prst="rect">
            <a:avLst/>
          </a:prstGeom>
          <a:noFill/>
        </p:spPr>
        <p:txBody>
          <a:bodyPr wrap="none" rtlCol="0">
            <a:spAutoFit/>
          </a:bodyPr>
          <a:lstStyle/>
          <a:p>
            <a:r>
              <a:rPr lang="en-IN" sz="2800" b="1" dirty="0">
                <a:latin typeface="Aptos" panose="020B0004020202020204" pitchFamily="34" charset="0"/>
              </a:rPr>
              <a:t>Donut Chart</a:t>
            </a:r>
          </a:p>
        </p:txBody>
      </p:sp>
      <p:pic>
        <p:nvPicPr>
          <p:cNvPr id="4" name="Picture 3">
            <a:extLst>
              <a:ext uri="{FF2B5EF4-FFF2-40B4-BE49-F238E27FC236}">
                <a16:creationId xmlns:a16="http://schemas.microsoft.com/office/drawing/2014/main" id="{25A26885-F059-9F86-7AFB-22A68D47022B}"/>
              </a:ext>
            </a:extLst>
          </p:cNvPr>
          <p:cNvPicPr>
            <a:picLocks noChangeAspect="1"/>
          </p:cNvPicPr>
          <p:nvPr/>
        </p:nvPicPr>
        <p:blipFill>
          <a:blip r:embed="rId2"/>
          <a:stretch>
            <a:fillRect/>
          </a:stretch>
        </p:blipFill>
        <p:spPr>
          <a:xfrm>
            <a:off x="825910" y="2059799"/>
            <a:ext cx="5889522" cy="3387272"/>
          </a:xfrm>
          <a:prstGeom prst="rect">
            <a:avLst/>
          </a:prstGeom>
        </p:spPr>
      </p:pic>
      <p:sp>
        <p:nvSpPr>
          <p:cNvPr id="6" name="TextBox 5">
            <a:extLst>
              <a:ext uri="{FF2B5EF4-FFF2-40B4-BE49-F238E27FC236}">
                <a16:creationId xmlns:a16="http://schemas.microsoft.com/office/drawing/2014/main" id="{E647A8CD-C42F-0EC0-773C-FE76FF239A95}"/>
              </a:ext>
            </a:extLst>
          </p:cNvPr>
          <p:cNvSpPr txBox="1"/>
          <p:nvPr/>
        </p:nvSpPr>
        <p:spPr>
          <a:xfrm>
            <a:off x="7098890" y="1971649"/>
            <a:ext cx="5024284" cy="3170099"/>
          </a:xfrm>
          <a:prstGeom prst="rect">
            <a:avLst/>
          </a:prstGeom>
          <a:noFill/>
        </p:spPr>
        <p:txBody>
          <a:bodyPr wrap="square">
            <a:spAutoFit/>
          </a:bodyPr>
          <a:lstStyle/>
          <a:p>
            <a:pPr>
              <a:buNone/>
            </a:pPr>
            <a:r>
              <a:rPr lang="en-IN" sz="2000" b="1" u="sng" dirty="0"/>
              <a:t>Key findings</a:t>
            </a:r>
          </a:p>
          <a:p>
            <a:pPr marL="342900" lvl="0" indent="-342900">
              <a:buFont typeface="Arial" panose="020B0604020202020204" pitchFamily="34" charset="0"/>
              <a:buChar char="•"/>
            </a:pPr>
            <a:r>
              <a:rPr lang="en-IN" dirty="0"/>
              <a:t>Female records account for 51% of the total.</a:t>
            </a:r>
          </a:p>
          <a:p>
            <a:pPr marL="342900" lvl="0" indent="-342900">
              <a:buFont typeface="Arial" panose="020B0604020202020204" pitchFamily="34" charset="0"/>
              <a:buChar char="•"/>
            </a:pPr>
            <a:r>
              <a:rPr lang="en-IN" dirty="0"/>
              <a:t>Male records account for 49%.</a:t>
            </a:r>
          </a:p>
          <a:p>
            <a:pPr marL="342900" lvl="0" indent="-342900">
              <a:buFont typeface="Arial" panose="020B0604020202020204" pitchFamily="34" charset="0"/>
              <a:buChar char="•"/>
            </a:pPr>
            <a:r>
              <a:rPr lang="en-IN" dirty="0"/>
              <a:t>The difference is only 20 records, indicating a nearly balanced distribution.</a:t>
            </a:r>
          </a:p>
          <a:p>
            <a:pPr lvl="0"/>
            <a:endParaRPr lang="en-IN" dirty="0"/>
          </a:p>
          <a:p>
            <a:pPr>
              <a:buNone/>
            </a:pPr>
            <a:r>
              <a:rPr lang="en-IN" sz="2000" b="1" u="sng" dirty="0"/>
              <a:t>Business insight: </a:t>
            </a:r>
            <a:r>
              <a:rPr lang="en-IN" dirty="0"/>
              <a:t>The customer records do not show a strong gender imbalance. The business could consider marketing strategies that appeal to both groups instead of focusing heavily on one gender.</a:t>
            </a:r>
          </a:p>
        </p:txBody>
      </p:sp>
    </p:spTree>
    <p:extLst>
      <p:ext uri="{BB962C8B-B14F-4D97-AF65-F5344CB8AC3E}">
        <p14:creationId xmlns:p14="http://schemas.microsoft.com/office/powerpoint/2010/main" val="3373550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1CE8C6-F00E-8C11-088D-144853CC36AD}"/>
              </a:ext>
            </a:extLst>
          </p:cNvPr>
          <p:cNvSpPr txBox="1"/>
          <p:nvPr/>
        </p:nvSpPr>
        <p:spPr>
          <a:xfrm>
            <a:off x="776748" y="668594"/>
            <a:ext cx="1540806" cy="523220"/>
          </a:xfrm>
          <a:prstGeom prst="rect">
            <a:avLst/>
          </a:prstGeom>
          <a:noFill/>
        </p:spPr>
        <p:txBody>
          <a:bodyPr wrap="none" rtlCol="0">
            <a:spAutoFit/>
          </a:bodyPr>
          <a:lstStyle/>
          <a:p>
            <a:r>
              <a:rPr lang="en-IN" sz="2800" b="1" dirty="0"/>
              <a:t>Pie Chart</a:t>
            </a:r>
          </a:p>
        </p:txBody>
      </p:sp>
      <p:pic>
        <p:nvPicPr>
          <p:cNvPr id="4" name="Picture 3">
            <a:extLst>
              <a:ext uri="{FF2B5EF4-FFF2-40B4-BE49-F238E27FC236}">
                <a16:creationId xmlns:a16="http://schemas.microsoft.com/office/drawing/2014/main" id="{BEEA5B1D-87F5-498B-F735-F0D589665517}"/>
              </a:ext>
            </a:extLst>
          </p:cNvPr>
          <p:cNvPicPr>
            <a:picLocks noChangeAspect="1"/>
          </p:cNvPicPr>
          <p:nvPr/>
        </p:nvPicPr>
        <p:blipFill>
          <a:blip r:embed="rId2"/>
          <a:stretch>
            <a:fillRect/>
          </a:stretch>
        </p:blipFill>
        <p:spPr>
          <a:xfrm>
            <a:off x="776748" y="1493113"/>
            <a:ext cx="5565873" cy="3521338"/>
          </a:xfrm>
          <a:prstGeom prst="rect">
            <a:avLst/>
          </a:prstGeom>
        </p:spPr>
      </p:pic>
      <p:sp>
        <p:nvSpPr>
          <p:cNvPr id="6" name="TextBox 5">
            <a:extLst>
              <a:ext uri="{FF2B5EF4-FFF2-40B4-BE49-F238E27FC236}">
                <a16:creationId xmlns:a16="http://schemas.microsoft.com/office/drawing/2014/main" id="{34D885BE-3E06-FB9D-8EE9-5E74664F505F}"/>
              </a:ext>
            </a:extLst>
          </p:cNvPr>
          <p:cNvSpPr txBox="1"/>
          <p:nvPr/>
        </p:nvSpPr>
        <p:spPr>
          <a:xfrm>
            <a:off x="6744929" y="1582340"/>
            <a:ext cx="4896465" cy="4001095"/>
          </a:xfrm>
          <a:prstGeom prst="rect">
            <a:avLst/>
          </a:prstGeom>
          <a:noFill/>
        </p:spPr>
        <p:txBody>
          <a:bodyPr wrap="square">
            <a:spAutoFit/>
          </a:bodyPr>
          <a:lstStyle/>
          <a:p>
            <a:pPr>
              <a:buNone/>
            </a:pPr>
            <a:r>
              <a:rPr lang="en-IN" sz="2000" b="1" u="sng" dirty="0"/>
              <a:t>Key findings</a:t>
            </a:r>
          </a:p>
          <a:p>
            <a:pPr marL="342900" lvl="0" indent="-342900">
              <a:buFont typeface="Arial" panose="020B0604020202020204" pitchFamily="34" charset="0"/>
              <a:buChar char="•"/>
            </a:pPr>
            <a:r>
              <a:rPr lang="en-IN" dirty="0"/>
              <a:t>Clothing has the highest quantity sold, with 894 units.</a:t>
            </a:r>
          </a:p>
          <a:p>
            <a:pPr marL="342900" lvl="0" indent="-342900">
              <a:buFont typeface="Arial" panose="020B0604020202020204" pitchFamily="34" charset="0"/>
              <a:buChar char="•"/>
            </a:pPr>
            <a:r>
              <a:rPr lang="en-IN" dirty="0"/>
              <a:t>Electronics follows with 849 units.</a:t>
            </a:r>
          </a:p>
          <a:p>
            <a:pPr marL="342900" lvl="0" indent="-342900">
              <a:buFont typeface="Arial" panose="020B0604020202020204" pitchFamily="34" charset="0"/>
              <a:buChar char="•"/>
            </a:pPr>
            <a:r>
              <a:rPr lang="en-IN" dirty="0"/>
              <a:t>Beauty has the lowest quantity sold, with 771 units.</a:t>
            </a:r>
          </a:p>
          <a:p>
            <a:pPr marL="342900" lvl="0" indent="-342900">
              <a:buFont typeface="Arial" panose="020B0604020202020204" pitchFamily="34" charset="0"/>
              <a:buChar char="•"/>
            </a:pPr>
            <a:r>
              <a:rPr lang="en-IN" dirty="0"/>
              <a:t>Clothing accounts for approximately 35.56% of the total quantity.</a:t>
            </a:r>
          </a:p>
          <a:p>
            <a:pPr lvl="0"/>
            <a:endParaRPr lang="en-IN" dirty="0"/>
          </a:p>
          <a:p>
            <a:pPr>
              <a:buNone/>
            </a:pPr>
            <a:r>
              <a:rPr lang="en-IN" sz="2000" b="1" u="sng" dirty="0"/>
              <a:t>Business insight: </a:t>
            </a:r>
            <a:r>
              <a:rPr lang="en-IN" dirty="0"/>
              <a:t>Clothing leads in sales volume, but the difference between the categories is relatively small. The business should investigate product demand and stock availability in each category.</a:t>
            </a:r>
          </a:p>
        </p:txBody>
      </p:sp>
    </p:spTree>
    <p:extLst>
      <p:ext uri="{BB962C8B-B14F-4D97-AF65-F5344CB8AC3E}">
        <p14:creationId xmlns:p14="http://schemas.microsoft.com/office/powerpoint/2010/main" val="4044764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8319F3-47F2-5B5D-EB47-DF860014ABB4}"/>
              </a:ext>
            </a:extLst>
          </p:cNvPr>
          <p:cNvPicPr>
            <a:picLocks noChangeAspect="1"/>
          </p:cNvPicPr>
          <p:nvPr/>
        </p:nvPicPr>
        <p:blipFill>
          <a:blip r:embed="rId2"/>
          <a:stretch>
            <a:fillRect/>
          </a:stretch>
        </p:blipFill>
        <p:spPr>
          <a:xfrm>
            <a:off x="806245" y="1901870"/>
            <a:ext cx="5928852" cy="3722182"/>
          </a:xfrm>
          <a:prstGeom prst="rect">
            <a:avLst/>
          </a:prstGeom>
        </p:spPr>
      </p:pic>
      <p:sp>
        <p:nvSpPr>
          <p:cNvPr id="4" name="TextBox 3">
            <a:extLst>
              <a:ext uri="{FF2B5EF4-FFF2-40B4-BE49-F238E27FC236}">
                <a16:creationId xmlns:a16="http://schemas.microsoft.com/office/drawing/2014/main" id="{AC58C419-697C-C25F-4E05-636F74E40A3B}"/>
              </a:ext>
            </a:extLst>
          </p:cNvPr>
          <p:cNvSpPr txBox="1"/>
          <p:nvPr/>
        </p:nvSpPr>
        <p:spPr>
          <a:xfrm>
            <a:off x="806245" y="875071"/>
            <a:ext cx="2480166" cy="523220"/>
          </a:xfrm>
          <a:prstGeom prst="rect">
            <a:avLst/>
          </a:prstGeom>
          <a:noFill/>
        </p:spPr>
        <p:txBody>
          <a:bodyPr wrap="none" rtlCol="0">
            <a:spAutoFit/>
          </a:bodyPr>
          <a:lstStyle/>
          <a:p>
            <a:r>
              <a:rPr lang="en-IN" sz="2800" b="1" dirty="0">
                <a:latin typeface="Aptos" panose="020B0004020202020204" pitchFamily="34" charset="0"/>
              </a:rPr>
              <a:t>Column Chart</a:t>
            </a:r>
          </a:p>
        </p:txBody>
      </p:sp>
      <p:sp>
        <p:nvSpPr>
          <p:cNvPr id="8" name="TextBox 7">
            <a:extLst>
              <a:ext uri="{FF2B5EF4-FFF2-40B4-BE49-F238E27FC236}">
                <a16:creationId xmlns:a16="http://schemas.microsoft.com/office/drawing/2014/main" id="{0CF84FF4-F1D0-E36F-6AB3-655485477F42}"/>
              </a:ext>
            </a:extLst>
          </p:cNvPr>
          <p:cNvSpPr txBox="1"/>
          <p:nvPr/>
        </p:nvSpPr>
        <p:spPr>
          <a:xfrm>
            <a:off x="6735097" y="1960425"/>
            <a:ext cx="5319252" cy="4001095"/>
          </a:xfrm>
          <a:prstGeom prst="rect">
            <a:avLst/>
          </a:prstGeom>
          <a:noFill/>
        </p:spPr>
        <p:txBody>
          <a:bodyPr wrap="square">
            <a:spAutoFit/>
          </a:bodyPr>
          <a:lstStyle/>
          <a:p>
            <a:pPr>
              <a:buNone/>
            </a:pPr>
            <a:r>
              <a:rPr lang="en-IN" sz="2000" b="1" u="sng" dirty="0"/>
              <a:t>Key findings</a:t>
            </a:r>
          </a:p>
          <a:p>
            <a:pPr marL="342900" lvl="0" indent="-342900">
              <a:buFont typeface="Arial" panose="020B0604020202020204" pitchFamily="34" charset="0"/>
              <a:buChar char="•"/>
            </a:pPr>
            <a:r>
              <a:rPr lang="en-IN" dirty="0"/>
              <a:t>Electronics generates the highest revenue, at 156,905.</a:t>
            </a:r>
          </a:p>
          <a:p>
            <a:pPr marL="342900" lvl="0" indent="-342900">
              <a:buFont typeface="Arial" panose="020B0604020202020204" pitchFamily="34" charset="0"/>
              <a:buChar char="•"/>
            </a:pPr>
            <a:r>
              <a:rPr lang="en-IN" dirty="0"/>
              <a:t>Clothing follows very closely, at 155,580.</a:t>
            </a:r>
          </a:p>
          <a:p>
            <a:pPr marL="342900" lvl="0" indent="-342900">
              <a:buFont typeface="Arial" panose="020B0604020202020204" pitchFamily="34" charset="0"/>
              <a:buChar char="•"/>
            </a:pPr>
            <a:r>
              <a:rPr lang="en-IN" dirty="0"/>
              <a:t>Beauty generates 143,515, the lowest of the three categories.</a:t>
            </a:r>
          </a:p>
          <a:p>
            <a:pPr marL="342900" lvl="0" indent="-342900">
              <a:buFont typeface="Arial" panose="020B0604020202020204" pitchFamily="34" charset="0"/>
              <a:buChar char="•"/>
            </a:pPr>
            <a:r>
              <a:rPr lang="en-IN" dirty="0"/>
              <a:t>Electronics exceeds Clothing by only 1,325, while Beauty trails Electronics by 13,390.</a:t>
            </a:r>
          </a:p>
          <a:p>
            <a:pPr lvl="0"/>
            <a:endParaRPr lang="en-IN" dirty="0"/>
          </a:p>
          <a:p>
            <a:pPr>
              <a:buNone/>
            </a:pPr>
            <a:r>
              <a:rPr lang="en-IN" sz="2000" b="1" u="sng" dirty="0"/>
              <a:t>Business insight: </a:t>
            </a:r>
            <a:r>
              <a:rPr lang="en-IN" dirty="0"/>
              <a:t>Electronics and Clothing are the strongest revenue contributors, while Beauty has an opportunity for further investigation. However, higher revenue does not automatically mean higher profit because product costs and margins are not included.</a:t>
            </a:r>
          </a:p>
        </p:txBody>
      </p:sp>
    </p:spTree>
    <p:extLst>
      <p:ext uri="{BB962C8B-B14F-4D97-AF65-F5344CB8AC3E}">
        <p14:creationId xmlns:p14="http://schemas.microsoft.com/office/powerpoint/2010/main" val="3252503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square" lIns="36576" tIns="27432" rIns="36576" bIns="18288" anchor="t">
            <a:spAutoFit/>
          </a:bodyPr>
          <a:lstStyle/>
          <a:p>
            <a:pPr algn="l"/>
            <a:r>
              <a:rPr sz="2800" b="1">
                <a:solidFill>
                  <a:srgbClr val="13254F"/>
                </a:solidFill>
                <a:latin typeface="Aptos"/>
              </a:rPr>
              <a:t>5. Visualization Choices — What Each Chart Answers</a:t>
            </a:r>
          </a:p>
        </p:txBody>
      </p:sp>
      <p:sp>
        <p:nvSpPr>
          <p:cNvPr id="3" name="Rectangle 2"/>
          <p:cNvSpPr/>
          <p:nvPr/>
        </p:nvSpPr>
        <p:spPr>
          <a:xfrm>
            <a:off x="530352" y="941832"/>
            <a:ext cx="1051560" cy="50292"/>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521208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00200"/>
            <a:ext cx="64008" cy="1234440"/>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91640"/>
            <a:ext cx="4800600" cy="228600"/>
          </a:xfrm>
          <a:prstGeom prst="rect">
            <a:avLst/>
          </a:prstGeom>
          <a:noFill/>
        </p:spPr>
        <p:txBody>
          <a:bodyPr wrap="square" lIns="36576" tIns="27432" rIns="36576" bIns="18288" anchor="t">
            <a:spAutoFit/>
          </a:bodyPr>
          <a:lstStyle/>
          <a:p>
            <a:pPr algn="l"/>
            <a:r>
              <a:rPr sz="1400" b="1">
                <a:solidFill>
                  <a:srgbClr val="13254F"/>
                </a:solidFill>
                <a:latin typeface="Aptos"/>
              </a:rPr>
              <a:t>KPI cards</a:t>
            </a:r>
          </a:p>
        </p:txBody>
      </p:sp>
      <p:sp>
        <p:nvSpPr>
          <p:cNvPr id="9" name="TextBox 8"/>
          <p:cNvSpPr txBox="1"/>
          <p:nvPr/>
        </p:nvSpPr>
        <p:spPr>
          <a:xfrm>
            <a:off x="914400" y="1984248"/>
            <a:ext cx="4800600" cy="228600"/>
          </a:xfrm>
          <a:prstGeom prst="rect">
            <a:avLst/>
          </a:prstGeom>
          <a:noFill/>
        </p:spPr>
        <p:txBody>
          <a:bodyPr wrap="square" lIns="36576" tIns="27432" rIns="36576" bIns="18288" anchor="t">
            <a:spAutoFit/>
          </a:bodyPr>
          <a:lstStyle/>
          <a:p>
            <a:pPr algn="l"/>
            <a:r>
              <a:rPr sz="1000" b="1">
                <a:solidFill>
                  <a:srgbClr val="1989FF"/>
                </a:solidFill>
                <a:latin typeface="Aptos"/>
              </a:rPr>
              <a:t>Age, customer count, quantity, sales and transaction count</a:t>
            </a:r>
          </a:p>
        </p:txBody>
      </p:sp>
      <p:sp>
        <p:nvSpPr>
          <p:cNvPr id="10" name="TextBox 9"/>
          <p:cNvSpPr txBox="1"/>
          <p:nvPr/>
        </p:nvSpPr>
        <p:spPr>
          <a:xfrm>
            <a:off x="914400" y="2276856"/>
            <a:ext cx="4800600" cy="411480"/>
          </a:xfrm>
          <a:prstGeom prst="rect">
            <a:avLst/>
          </a:prstGeom>
          <a:noFill/>
        </p:spPr>
        <p:txBody>
          <a:bodyPr wrap="square" lIns="36576" tIns="27432" rIns="36576" bIns="18288" anchor="t">
            <a:spAutoFit/>
          </a:bodyPr>
          <a:lstStyle/>
          <a:p>
            <a:pPr algn="l"/>
            <a:r>
              <a:rPr sz="1100" b="0">
                <a:solidFill>
                  <a:srgbClr val="646E7D"/>
                </a:solidFill>
                <a:latin typeface="Aptos"/>
              </a:rPr>
              <a:t>Give an at-a-glance summary of overall performance.</a:t>
            </a:r>
          </a:p>
        </p:txBody>
      </p:sp>
      <p:sp>
        <p:nvSpPr>
          <p:cNvPr id="11" name="Rounded Rectangle 10"/>
          <p:cNvSpPr/>
          <p:nvPr/>
        </p:nvSpPr>
        <p:spPr>
          <a:xfrm>
            <a:off x="6355080" y="1600200"/>
            <a:ext cx="521208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55080" y="1600200"/>
            <a:ext cx="64008" cy="1234440"/>
          </a:xfrm>
          <a:prstGeom prst="rect">
            <a:avLst/>
          </a:prstGeom>
          <a:solidFill>
            <a:srgbClr val="34C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1691640"/>
            <a:ext cx="4800600" cy="261610"/>
          </a:xfrm>
          <a:prstGeom prst="rect">
            <a:avLst/>
          </a:prstGeom>
          <a:noFill/>
        </p:spPr>
        <p:txBody>
          <a:bodyPr wrap="square" lIns="36576" tIns="27432" rIns="36576" bIns="18288" anchor="t">
            <a:spAutoFit/>
          </a:bodyPr>
          <a:lstStyle/>
          <a:p>
            <a:pPr algn="l"/>
            <a:r>
              <a:rPr lang="en-IN" sz="1400" b="1" dirty="0">
                <a:solidFill>
                  <a:srgbClr val="13254F"/>
                </a:solidFill>
                <a:latin typeface="Aptos"/>
              </a:rPr>
              <a:t>Bar</a:t>
            </a:r>
            <a:r>
              <a:rPr sz="1400" b="1" dirty="0">
                <a:solidFill>
                  <a:srgbClr val="13254F"/>
                </a:solidFill>
                <a:latin typeface="Aptos"/>
              </a:rPr>
              <a:t> chart: customer count by age</a:t>
            </a:r>
          </a:p>
        </p:txBody>
      </p:sp>
      <p:sp>
        <p:nvSpPr>
          <p:cNvPr id="14" name="TextBox 13"/>
          <p:cNvSpPr txBox="1"/>
          <p:nvPr/>
        </p:nvSpPr>
        <p:spPr>
          <a:xfrm>
            <a:off x="6537960" y="1984248"/>
            <a:ext cx="4800600" cy="228600"/>
          </a:xfrm>
          <a:prstGeom prst="rect">
            <a:avLst/>
          </a:prstGeom>
          <a:noFill/>
        </p:spPr>
        <p:txBody>
          <a:bodyPr wrap="square" lIns="36576" tIns="27432" rIns="36576" bIns="18288" anchor="t">
            <a:spAutoFit/>
          </a:bodyPr>
          <a:lstStyle/>
          <a:p>
            <a:pPr algn="l"/>
            <a:r>
              <a:rPr sz="1000" b="1">
                <a:solidFill>
                  <a:srgbClr val="1989FF"/>
                </a:solidFill>
                <a:latin typeface="Aptos"/>
              </a:rPr>
              <a:t>Age → Count of Customer ID</a:t>
            </a:r>
          </a:p>
        </p:txBody>
      </p:sp>
      <p:sp>
        <p:nvSpPr>
          <p:cNvPr id="15" name="TextBox 14"/>
          <p:cNvSpPr txBox="1"/>
          <p:nvPr/>
        </p:nvSpPr>
        <p:spPr>
          <a:xfrm>
            <a:off x="6537960" y="2276856"/>
            <a:ext cx="4800600" cy="411480"/>
          </a:xfrm>
          <a:prstGeom prst="rect">
            <a:avLst/>
          </a:prstGeom>
          <a:noFill/>
        </p:spPr>
        <p:txBody>
          <a:bodyPr wrap="square" lIns="36576" tIns="27432" rIns="36576" bIns="18288" anchor="t">
            <a:spAutoFit/>
          </a:bodyPr>
          <a:lstStyle/>
          <a:p>
            <a:pPr algn="l"/>
            <a:r>
              <a:rPr sz="1100" b="0">
                <a:solidFill>
                  <a:srgbClr val="646E7D"/>
                </a:solidFill>
                <a:latin typeface="Aptos"/>
              </a:rPr>
              <a:t>Shows how transaction/customer records are distributed across ages.</a:t>
            </a:r>
          </a:p>
        </p:txBody>
      </p:sp>
      <p:sp>
        <p:nvSpPr>
          <p:cNvPr id="16" name="Rounded Rectangle 15"/>
          <p:cNvSpPr/>
          <p:nvPr/>
        </p:nvSpPr>
        <p:spPr>
          <a:xfrm>
            <a:off x="731520" y="3081528"/>
            <a:ext cx="521208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3081528"/>
            <a:ext cx="64008" cy="1234440"/>
          </a:xfrm>
          <a:prstGeom prst="rect">
            <a:avLst/>
          </a:prstGeom>
          <a:solidFill>
            <a:srgbClr val="F46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172968"/>
            <a:ext cx="4800600" cy="228600"/>
          </a:xfrm>
          <a:prstGeom prst="rect">
            <a:avLst/>
          </a:prstGeom>
          <a:noFill/>
        </p:spPr>
        <p:txBody>
          <a:bodyPr wrap="square" lIns="36576" tIns="27432" rIns="36576" bIns="18288" anchor="t">
            <a:spAutoFit/>
          </a:bodyPr>
          <a:lstStyle/>
          <a:p>
            <a:pPr algn="l"/>
            <a:r>
              <a:rPr sz="1400" b="1">
                <a:solidFill>
                  <a:srgbClr val="13254F"/>
                </a:solidFill>
                <a:latin typeface="Aptos"/>
              </a:rPr>
              <a:t>Line chart: transactions by month</a:t>
            </a:r>
          </a:p>
        </p:txBody>
      </p:sp>
      <p:sp>
        <p:nvSpPr>
          <p:cNvPr id="19" name="TextBox 18"/>
          <p:cNvSpPr txBox="1"/>
          <p:nvPr/>
        </p:nvSpPr>
        <p:spPr>
          <a:xfrm>
            <a:off x="914400" y="3465576"/>
            <a:ext cx="4800600" cy="228600"/>
          </a:xfrm>
          <a:prstGeom prst="rect">
            <a:avLst/>
          </a:prstGeom>
          <a:noFill/>
        </p:spPr>
        <p:txBody>
          <a:bodyPr wrap="square" lIns="36576" tIns="27432" rIns="36576" bIns="18288" anchor="t">
            <a:spAutoFit/>
          </a:bodyPr>
          <a:lstStyle/>
          <a:p>
            <a:pPr algn="l"/>
            <a:r>
              <a:rPr sz="1000" b="1">
                <a:solidFill>
                  <a:srgbClr val="1989FF"/>
                </a:solidFill>
                <a:latin typeface="Aptos"/>
              </a:rPr>
              <a:t>Date (month) → Count of Transaction ID</a:t>
            </a:r>
          </a:p>
        </p:txBody>
      </p:sp>
      <p:sp>
        <p:nvSpPr>
          <p:cNvPr id="20" name="TextBox 19"/>
          <p:cNvSpPr txBox="1"/>
          <p:nvPr/>
        </p:nvSpPr>
        <p:spPr>
          <a:xfrm>
            <a:off x="914400" y="3758184"/>
            <a:ext cx="4800600" cy="411480"/>
          </a:xfrm>
          <a:prstGeom prst="rect">
            <a:avLst/>
          </a:prstGeom>
          <a:noFill/>
        </p:spPr>
        <p:txBody>
          <a:bodyPr wrap="square" lIns="36576" tIns="27432" rIns="36576" bIns="18288" anchor="t">
            <a:spAutoFit/>
          </a:bodyPr>
          <a:lstStyle/>
          <a:p>
            <a:pPr algn="l"/>
            <a:r>
              <a:rPr sz="1100" b="0">
                <a:solidFill>
                  <a:srgbClr val="646E7D"/>
                </a:solidFill>
                <a:latin typeface="Aptos"/>
              </a:rPr>
              <a:t>Highlights monthly rises and falls in transaction activity.</a:t>
            </a:r>
          </a:p>
        </p:txBody>
      </p:sp>
      <p:sp>
        <p:nvSpPr>
          <p:cNvPr id="21" name="Rounded Rectangle 20"/>
          <p:cNvSpPr/>
          <p:nvPr/>
        </p:nvSpPr>
        <p:spPr>
          <a:xfrm>
            <a:off x="6355080" y="3081528"/>
            <a:ext cx="521208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55080" y="3081528"/>
            <a:ext cx="64008" cy="1234440"/>
          </a:xfrm>
          <a:prstGeom prst="rect">
            <a:avLst/>
          </a:prstGeom>
          <a:solidFill>
            <a:srgbClr val="239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3172968"/>
            <a:ext cx="4800600" cy="228600"/>
          </a:xfrm>
          <a:prstGeom prst="rect">
            <a:avLst/>
          </a:prstGeom>
          <a:noFill/>
        </p:spPr>
        <p:txBody>
          <a:bodyPr wrap="square" lIns="36576" tIns="27432" rIns="36576" bIns="18288" anchor="t">
            <a:spAutoFit/>
          </a:bodyPr>
          <a:lstStyle/>
          <a:p>
            <a:pPr algn="l"/>
            <a:r>
              <a:rPr sz="1400" b="1">
                <a:solidFill>
                  <a:srgbClr val="13254F"/>
                </a:solidFill>
                <a:latin typeface="Aptos"/>
              </a:rPr>
              <a:t>Donut chart: customers by gender</a:t>
            </a:r>
          </a:p>
        </p:txBody>
      </p:sp>
      <p:sp>
        <p:nvSpPr>
          <p:cNvPr id="24" name="TextBox 23"/>
          <p:cNvSpPr txBox="1"/>
          <p:nvPr/>
        </p:nvSpPr>
        <p:spPr>
          <a:xfrm>
            <a:off x="6537960" y="3465576"/>
            <a:ext cx="4800600" cy="228600"/>
          </a:xfrm>
          <a:prstGeom prst="rect">
            <a:avLst/>
          </a:prstGeom>
          <a:noFill/>
        </p:spPr>
        <p:txBody>
          <a:bodyPr wrap="square" lIns="36576" tIns="27432" rIns="36576" bIns="18288" anchor="t">
            <a:spAutoFit/>
          </a:bodyPr>
          <a:lstStyle/>
          <a:p>
            <a:pPr algn="l"/>
            <a:r>
              <a:rPr sz="1000" b="1">
                <a:solidFill>
                  <a:srgbClr val="1989FF"/>
                </a:solidFill>
                <a:latin typeface="Aptos"/>
              </a:rPr>
              <a:t>Gender → Count of Customer ID</a:t>
            </a:r>
          </a:p>
        </p:txBody>
      </p:sp>
      <p:sp>
        <p:nvSpPr>
          <p:cNvPr id="25" name="TextBox 24"/>
          <p:cNvSpPr txBox="1"/>
          <p:nvPr/>
        </p:nvSpPr>
        <p:spPr>
          <a:xfrm>
            <a:off x="6537960" y="3758184"/>
            <a:ext cx="4800600" cy="411480"/>
          </a:xfrm>
          <a:prstGeom prst="rect">
            <a:avLst/>
          </a:prstGeom>
          <a:noFill/>
        </p:spPr>
        <p:txBody>
          <a:bodyPr wrap="square" lIns="36576" tIns="27432" rIns="36576" bIns="18288" anchor="t">
            <a:spAutoFit/>
          </a:bodyPr>
          <a:lstStyle/>
          <a:p>
            <a:pPr algn="l"/>
            <a:r>
              <a:rPr sz="1100" b="0">
                <a:solidFill>
                  <a:srgbClr val="646E7D"/>
                </a:solidFill>
                <a:latin typeface="Aptos"/>
              </a:rPr>
              <a:t>Compares the female and male customer counts.</a:t>
            </a:r>
          </a:p>
        </p:txBody>
      </p:sp>
      <p:sp>
        <p:nvSpPr>
          <p:cNvPr id="26" name="Rounded Rectangle 25"/>
          <p:cNvSpPr/>
          <p:nvPr/>
        </p:nvSpPr>
        <p:spPr>
          <a:xfrm>
            <a:off x="731520" y="4562856"/>
            <a:ext cx="521208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31520" y="4562856"/>
            <a:ext cx="64008" cy="1234440"/>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4654296"/>
            <a:ext cx="4800600" cy="228600"/>
          </a:xfrm>
          <a:prstGeom prst="rect">
            <a:avLst/>
          </a:prstGeom>
          <a:noFill/>
        </p:spPr>
        <p:txBody>
          <a:bodyPr wrap="square" lIns="36576" tIns="27432" rIns="36576" bIns="18288" anchor="t">
            <a:spAutoFit/>
          </a:bodyPr>
          <a:lstStyle/>
          <a:p>
            <a:pPr algn="l"/>
            <a:r>
              <a:rPr sz="1400" b="1">
                <a:solidFill>
                  <a:srgbClr val="13254F"/>
                </a:solidFill>
                <a:latin typeface="Aptos"/>
              </a:rPr>
              <a:t>Pie chart: quantity by category</a:t>
            </a:r>
          </a:p>
        </p:txBody>
      </p:sp>
      <p:sp>
        <p:nvSpPr>
          <p:cNvPr id="29" name="TextBox 28"/>
          <p:cNvSpPr txBox="1"/>
          <p:nvPr/>
        </p:nvSpPr>
        <p:spPr>
          <a:xfrm>
            <a:off x="914400" y="4946904"/>
            <a:ext cx="4800600" cy="228600"/>
          </a:xfrm>
          <a:prstGeom prst="rect">
            <a:avLst/>
          </a:prstGeom>
          <a:noFill/>
        </p:spPr>
        <p:txBody>
          <a:bodyPr wrap="square" lIns="36576" tIns="27432" rIns="36576" bIns="18288" anchor="t">
            <a:spAutoFit/>
          </a:bodyPr>
          <a:lstStyle/>
          <a:p>
            <a:pPr algn="l"/>
            <a:r>
              <a:rPr sz="1000" b="1">
                <a:solidFill>
                  <a:srgbClr val="1989FF"/>
                </a:solidFill>
                <a:latin typeface="Aptos"/>
              </a:rPr>
              <a:t>Product Category → Sum of Quantity</a:t>
            </a:r>
          </a:p>
        </p:txBody>
      </p:sp>
      <p:sp>
        <p:nvSpPr>
          <p:cNvPr id="30" name="TextBox 29"/>
          <p:cNvSpPr txBox="1"/>
          <p:nvPr/>
        </p:nvSpPr>
        <p:spPr>
          <a:xfrm>
            <a:off x="914400" y="5239512"/>
            <a:ext cx="4800600" cy="411480"/>
          </a:xfrm>
          <a:prstGeom prst="rect">
            <a:avLst/>
          </a:prstGeom>
          <a:noFill/>
        </p:spPr>
        <p:txBody>
          <a:bodyPr wrap="square" lIns="36576" tIns="27432" rIns="36576" bIns="18288" anchor="t">
            <a:spAutoFit/>
          </a:bodyPr>
          <a:lstStyle/>
          <a:p>
            <a:pPr algn="l"/>
            <a:r>
              <a:rPr sz="1100" b="0">
                <a:solidFill>
                  <a:srgbClr val="646E7D"/>
                </a:solidFill>
                <a:latin typeface="Aptos"/>
              </a:rPr>
              <a:t>Compares units purchased across categories.</a:t>
            </a:r>
          </a:p>
        </p:txBody>
      </p:sp>
      <p:sp>
        <p:nvSpPr>
          <p:cNvPr id="31" name="Rounded Rectangle 30"/>
          <p:cNvSpPr/>
          <p:nvPr/>
        </p:nvSpPr>
        <p:spPr>
          <a:xfrm>
            <a:off x="6355080" y="4562856"/>
            <a:ext cx="5212080" cy="123444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55080" y="4562856"/>
            <a:ext cx="64008" cy="1234440"/>
          </a:xfrm>
          <a:prstGeom prst="rect">
            <a:avLst/>
          </a:prstGeom>
          <a:solidFill>
            <a:srgbClr val="F46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37960" y="4654296"/>
            <a:ext cx="4800600" cy="261610"/>
          </a:xfrm>
          <a:prstGeom prst="rect">
            <a:avLst/>
          </a:prstGeom>
          <a:noFill/>
        </p:spPr>
        <p:txBody>
          <a:bodyPr wrap="square" lIns="36576" tIns="27432" rIns="36576" bIns="18288" anchor="t">
            <a:spAutoFit/>
          </a:bodyPr>
          <a:lstStyle/>
          <a:p>
            <a:pPr algn="l"/>
            <a:r>
              <a:rPr sz="1400" b="1" dirty="0">
                <a:solidFill>
                  <a:srgbClr val="13254F"/>
                </a:solidFill>
                <a:latin typeface="Aptos"/>
              </a:rPr>
              <a:t>column chart: sales by category</a:t>
            </a:r>
          </a:p>
        </p:txBody>
      </p:sp>
      <p:sp>
        <p:nvSpPr>
          <p:cNvPr id="34" name="TextBox 33"/>
          <p:cNvSpPr txBox="1"/>
          <p:nvPr/>
        </p:nvSpPr>
        <p:spPr>
          <a:xfrm>
            <a:off x="6537960" y="4946904"/>
            <a:ext cx="4800600" cy="228600"/>
          </a:xfrm>
          <a:prstGeom prst="rect">
            <a:avLst/>
          </a:prstGeom>
          <a:noFill/>
        </p:spPr>
        <p:txBody>
          <a:bodyPr wrap="square" lIns="36576" tIns="27432" rIns="36576" bIns="18288" anchor="t">
            <a:spAutoFit/>
          </a:bodyPr>
          <a:lstStyle/>
          <a:p>
            <a:pPr algn="l"/>
            <a:r>
              <a:rPr sz="1000" b="1">
                <a:solidFill>
                  <a:srgbClr val="1989FF"/>
                </a:solidFill>
                <a:latin typeface="Aptos"/>
              </a:rPr>
              <a:t>Product Category → Sum of Total Amount</a:t>
            </a:r>
          </a:p>
        </p:txBody>
      </p:sp>
      <p:sp>
        <p:nvSpPr>
          <p:cNvPr id="35" name="TextBox 34"/>
          <p:cNvSpPr txBox="1"/>
          <p:nvPr/>
        </p:nvSpPr>
        <p:spPr>
          <a:xfrm>
            <a:off x="6537960" y="5239512"/>
            <a:ext cx="4800600" cy="411480"/>
          </a:xfrm>
          <a:prstGeom prst="rect">
            <a:avLst/>
          </a:prstGeom>
          <a:noFill/>
        </p:spPr>
        <p:txBody>
          <a:bodyPr wrap="square" lIns="36576" tIns="27432" rIns="36576" bIns="18288" anchor="t">
            <a:spAutoFit/>
          </a:bodyPr>
          <a:lstStyle/>
          <a:p>
            <a:pPr algn="l"/>
            <a:r>
              <a:rPr sz="1100" b="0">
                <a:solidFill>
                  <a:srgbClr val="646E7D"/>
                </a:solidFill>
                <a:latin typeface="Aptos"/>
              </a:rPr>
              <a:t>Compares revenue contribution across categories.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square" lIns="36576" tIns="27432" rIns="36576" bIns="18288" anchor="t">
            <a:spAutoFit/>
          </a:bodyPr>
          <a:lstStyle/>
          <a:p>
            <a:pPr algn="l"/>
            <a:r>
              <a:rPr sz="2800" b="1">
                <a:solidFill>
                  <a:srgbClr val="13254F"/>
                </a:solidFill>
                <a:latin typeface="Aptos"/>
              </a:rPr>
              <a:t>6. Key Findings from the Data</a:t>
            </a:r>
          </a:p>
        </p:txBody>
      </p:sp>
      <p:sp>
        <p:nvSpPr>
          <p:cNvPr id="3" name="Rectangle 2"/>
          <p:cNvSpPr/>
          <p:nvPr/>
        </p:nvSpPr>
        <p:spPr>
          <a:xfrm>
            <a:off x="530352" y="941832"/>
            <a:ext cx="1051560" cy="50292"/>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1051560"/>
            <a:ext cx="10972800" cy="320040"/>
          </a:xfrm>
          <a:prstGeom prst="rect">
            <a:avLst/>
          </a:prstGeom>
          <a:noFill/>
        </p:spPr>
        <p:txBody>
          <a:bodyPr wrap="square" lIns="36576" tIns="27432" rIns="36576" bIns="18288" anchor="t">
            <a:spAutoFit/>
          </a:bodyPr>
          <a:lstStyle/>
          <a:p>
            <a:pPr algn="l"/>
            <a:r>
              <a:rPr sz="1100" b="0">
                <a:solidFill>
                  <a:srgbClr val="646E7D"/>
                </a:solidFill>
                <a:latin typeface="Aptos"/>
              </a:rPr>
              <a:t>Calculated directly from the supplied 1,000-row dataset</a:t>
            </a:r>
          </a:p>
        </p:txBody>
      </p:sp>
      <p:sp>
        <p:nvSpPr>
          <p:cNvPr id="6" name="Rounded Rectangle 5"/>
          <p:cNvSpPr/>
          <p:nvPr/>
        </p:nvSpPr>
        <p:spPr>
          <a:xfrm>
            <a:off x="731520" y="1600200"/>
            <a:ext cx="3383280" cy="118872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00200"/>
            <a:ext cx="73152" cy="1188720"/>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737360"/>
            <a:ext cx="3063240" cy="256032"/>
          </a:xfrm>
          <a:prstGeom prst="rect">
            <a:avLst/>
          </a:prstGeom>
          <a:noFill/>
        </p:spPr>
        <p:txBody>
          <a:bodyPr wrap="square" lIns="36576" tIns="27432" rIns="36576" bIns="18288" anchor="t">
            <a:spAutoFit/>
          </a:bodyPr>
          <a:lstStyle/>
          <a:p>
            <a:pPr algn="l"/>
            <a:r>
              <a:rPr sz="1000" b="1">
                <a:solidFill>
                  <a:srgbClr val="646E7D"/>
                </a:solidFill>
                <a:latin typeface="Aptos"/>
              </a:rPr>
              <a:t>TOTAL SALES</a:t>
            </a:r>
          </a:p>
        </p:txBody>
      </p:sp>
      <p:sp>
        <p:nvSpPr>
          <p:cNvPr id="9" name="TextBox 8"/>
          <p:cNvSpPr txBox="1"/>
          <p:nvPr/>
        </p:nvSpPr>
        <p:spPr>
          <a:xfrm>
            <a:off x="914400" y="2039112"/>
            <a:ext cx="3063240" cy="438912"/>
          </a:xfrm>
          <a:prstGeom prst="rect">
            <a:avLst/>
          </a:prstGeom>
          <a:noFill/>
        </p:spPr>
        <p:txBody>
          <a:bodyPr wrap="square" lIns="36576" tIns="27432" rIns="36576" bIns="18288" anchor="t">
            <a:spAutoFit/>
          </a:bodyPr>
          <a:lstStyle/>
          <a:p>
            <a:pPr algn="l"/>
            <a:r>
              <a:rPr sz="2500" b="1">
                <a:solidFill>
                  <a:srgbClr val="13254F"/>
                </a:solidFill>
                <a:latin typeface="Aptos"/>
              </a:rPr>
              <a:t>456,000</a:t>
            </a:r>
          </a:p>
        </p:txBody>
      </p:sp>
      <p:sp>
        <p:nvSpPr>
          <p:cNvPr id="10" name="TextBox 9"/>
          <p:cNvSpPr txBox="1"/>
          <p:nvPr/>
        </p:nvSpPr>
        <p:spPr>
          <a:xfrm>
            <a:off x="914400" y="2468879"/>
            <a:ext cx="3063240" cy="201168"/>
          </a:xfrm>
          <a:prstGeom prst="rect">
            <a:avLst/>
          </a:prstGeom>
          <a:noFill/>
        </p:spPr>
        <p:txBody>
          <a:bodyPr wrap="square" lIns="36576" tIns="27432" rIns="36576" bIns="18288" anchor="t">
            <a:spAutoFit/>
          </a:bodyPr>
          <a:lstStyle/>
          <a:p>
            <a:pPr algn="l"/>
            <a:r>
              <a:rPr sz="900" b="0">
                <a:solidFill>
                  <a:srgbClr val="646E7D"/>
                </a:solidFill>
                <a:latin typeface="Aptos"/>
              </a:rPr>
              <a:t>Across all transactions</a:t>
            </a:r>
          </a:p>
        </p:txBody>
      </p:sp>
      <p:sp>
        <p:nvSpPr>
          <p:cNvPr id="11" name="Rounded Rectangle 10"/>
          <p:cNvSpPr/>
          <p:nvPr/>
        </p:nvSpPr>
        <p:spPr>
          <a:xfrm>
            <a:off x="4389120" y="1600200"/>
            <a:ext cx="3383280" cy="118872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00200"/>
            <a:ext cx="73152" cy="1188720"/>
          </a:xfrm>
          <a:prstGeom prst="rect">
            <a:avLst/>
          </a:prstGeom>
          <a:solidFill>
            <a:srgbClr val="34C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737360"/>
            <a:ext cx="3063240" cy="256032"/>
          </a:xfrm>
          <a:prstGeom prst="rect">
            <a:avLst/>
          </a:prstGeom>
          <a:noFill/>
        </p:spPr>
        <p:txBody>
          <a:bodyPr wrap="square" lIns="36576" tIns="27432" rIns="36576" bIns="18288" anchor="t">
            <a:spAutoFit/>
          </a:bodyPr>
          <a:lstStyle/>
          <a:p>
            <a:pPr algn="l"/>
            <a:r>
              <a:rPr sz="1000" b="1">
                <a:solidFill>
                  <a:srgbClr val="646E7D"/>
                </a:solidFill>
                <a:latin typeface="Aptos"/>
              </a:rPr>
              <a:t>AVERAGE CUSTOMER AGE</a:t>
            </a:r>
          </a:p>
        </p:txBody>
      </p:sp>
      <p:sp>
        <p:nvSpPr>
          <p:cNvPr id="14" name="TextBox 13"/>
          <p:cNvSpPr txBox="1"/>
          <p:nvPr/>
        </p:nvSpPr>
        <p:spPr>
          <a:xfrm>
            <a:off x="4572000" y="2039112"/>
            <a:ext cx="3063240" cy="438912"/>
          </a:xfrm>
          <a:prstGeom prst="rect">
            <a:avLst/>
          </a:prstGeom>
          <a:noFill/>
        </p:spPr>
        <p:txBody>
          <a:bodyPr wrap="square" lIns="36576" tIns="27432" rIns="36576" bIns="18288" anchor="t">
            <a:spAutoFit/>
          </a:bodyPr>
          <a:lstStyle/>
          <a:p>
            <a:pPr algn="l"/>
            <a:r>
              <a:rPr sz="2500" b="1">
                <a:solidFill>
                  <a:srgbClr val="13254F"/>
                </a:solidFill>
                <a:latin typeface="Aptos"/>
              </a:rPr>
              <a:t>41.39 years</a:t>
            </a:r>
          </a:p>
        </p:txBody>
      </p:sp>
      <p:sp>
        <p:nvSpPr>
          <p:cNvPr id="15" name="Rounded Rectangle 14"/>
          <p:cNvSpPr/>
          <p:nvPr/>
        </p:nvSpPr>
        <p:spPr>
          <a:xfrm>
            <a:off x="8046720" y="1600200"/>
            <a:ext cx="3383280" cy="118872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600200"/>
            <a:ext cx="73152" cy="1188720"/>
          </a:xfrm>
          <a:prstGeom prst="rect">
            <a:avLst/>
          </a:prstGeom>
          <a:solidFill>
            <a:srgbClr val="F46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737360"/>
            <a:ext cx="3063240" cy="256032"/>
          </a:xfrm>
          <a:prstGeom prst="rect">
            <a:avLst/>
          </a:prstGeom>
          <a:noFill/>
        </p:spPr>
        <p:txBody>
          <a:bodyPr wrap="square" lIns="36576" tIns="27432" rIns="36576" bIns="18288" anchor="t">
            <a:spAutoFit/>
          </a:bodyPr>
          <a:lstStyle/>
          <a:p>
            <a:pPr algn="l"/>
            <a:r>
              <a:rPr sz="1000" b="1">
                <a:solidFill>
                  <a:srgbClr val="646E7D"/>
                </a:solidFill>
                <a:latin typeface="Aptos"/>
              </a:rPr>
              <a:t>FEMALE CUSTOMERS</a:t>
            </a:r>
          </a:p>
        </p:txBody>
      </p:sp>
      <p:sp>
        <p:nvSpPr>
          <p:cNvPr id="18" name="TextBox 17"/>
          <p:cNvSpPr txBox="1"/>
          <p:nvPr/>
        </p:nvSpPr>
        <p:spPr>
          <a:xfrm>
            <a:off x="8229600" y="2039112"/>
            <a:ext cx="3063240" cy="438912"/>
          </a:xfrm>
          <a:prstGeom prst="rect">
            <a:avLst/>
          </a:prstGeom>
          <a:noFill/>
        </p:spPr>
        <p:txBody>
          <a:bodyPr wrap="square" lIns="36576" tIns="27432" rIns="36576" bIns="18288" anchor="t">
            <a:spAutoFit/>
          </a:bodyPr>
          <a:lstStyle/>
          <a:p>
            <a:pPr algn="l"/>
            <a:r>
              <a:rPr sz="2500" b="1">
                <a:solidFill>
                  <a:srgbClr val="13254F"/>
                </a:solidFill>
                <a:latin typeface="Aptos"/>
              </a:rPr>
              <a:t>51%</a:t>
            </a:r>
          </a:p>
        </p:txBody>
      </p:sp>
      <p:sp>
        <p:nvSpPr>
          <p:cNvPr id="19" name="TextBox 18"/>
          <p:cNvSpPr txBox="1"/>
          <p:nvPr/>
        </p:nvSpPr>
        <p:spPr>
          <a:xfrm>
            <a:off x="8229600" y="2468879"/>
            <a:ext cx="3063240" cy="201168"/>
          </a:xfrm>
          <a:prstGeom prst="rect">
            <a:avLst/>
          </a:prstGeom>
          <a:noFill/>
        </p:spPr>
        <p:txBody>
          <a:bodyPr wrap="square" lIns="36576" tIns="27432" rIns="36576" bIns="18288" anchor="t">
            <a:spAutoFit/>
          </a:bodyPr>
          <a:lstStyle/>
          <a:p>
            <a:pPr algn="l"/>
            <a:r>
              <a:rPr sz="900" b="0">
                <a:solidFill>
                  <a:srgbClr val="646E7D"/>
                </a:solidFill>
                <a:latin typeface="Aptos"/>
              </a:rPr>
              <a:t>510 records</a:t>
            </a:r>
          </a:p>
        </p:txBody>
      </p:sp>
      <p:sp>
        <p:nvSpPr>
          <p:cNvPr id="20" name="TextBox 19"/>
          <p:cNvSpPr txBox="1"/>
          <p:nvPr/>
        </p:nvSpPr>
        <p:spPr>
          <a:xfrm>
            <a:off x="777240" y="3154680"/>
            <a:ext cx="2743200" cy="274320"/>
          </a:xfrm>
          <a:prstGeom prst="rect">
            <a:avLst/>
          </a:prstGeom>
          <a:noFill/>
        </p:spPr>
        <p:txBody>
          <a:bodyPr wrap="square" lIns="36576" tIns="27432" rIns="36576" bIns="18288" anchor="t">
            <a:spAutoFit/>
          </a:bodyPr>
          <a:lstStyle/>
          <a:p>
            <a:pPr algn="l"/>
            <a:r>
              <a:rPr sz="1200" b="1">
                <a:solidFill>
                  <a:srgbClr val="1989FF"/>
                </a:solidFill>
                <a:latin typeface="Aptos"/>
              </a:rPr>
              <a:t>CATEGORY PERFORMANCE</a:t>
            </a:r>
          </a:p>
        </p:txBody>
      </p:sp>
      <p:sp>
        <p:nvSpPr>
          <p:cNvPr id="21" name="TextBox 20"/>
          <p:cNvSpPr txBox="1"/>
          <p:nvPr/>
        </p:nvSpPr>
        <p:spPr>
          <a:xfrm>
            <a:off x="822960" y="3566160"/>
            <a:ext cx="1645920" cy="228600"/>
          </a:xfrm>
          <a:prstGeom prst="rect">
            <a:avLst/>
          </a:prstGeom>
          <a:noFill/>
        </p:spPr>
        <p:txBody>
          <a:bodyPr wrap="square" lIns="36576" tIns="27432" rIns="36576" bIns="18288" anchor="t">
            <a:spAutoFit/>
          </a:bodyPr>
          <a:lstStyle/>
          <a:p>
            <a:pPr algn="l"/>
            <a:r>
              <a:rPr sz="1300" b="1">
                <a:solidFill>
                  <a:srgbClr val="13254F"/>
                </a:solidFill>
                <a:latin typeface="Aptos"/>
              </a:rPr>
              <a:t>Electronics</a:t>
            </a:r>
          </a:p>
        </p:txBody>
      </p:sp>
      <p:sp>
        <p:nvSpPr>
          <p:cNvPr id="22" name="Rounded Rectangle 21"/>
          <p:cNvSpPr/>
          <p:nvPr/>
        </p:nvSpPr>
        <p:spPr>
          <a:xfrm>
            <a:off x="2560320" y="3584448"/>
            <a:ext cx="4572000" cy="201168"/>
          </a:xfrm>
          <a:prstGeom prst="roundRect">
            <a:avLst/>
          </a:prstGeom>
          <a:solidFill>
            <a:srgbClr val="E0E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560320" y="3584448"/>
            <a:ext cx="4572000" cy="201168"/>
          </a:xfrm>
          <a:prstGeom prst="round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0" y="3538728"/>
            <a:ext cx="1097280" cy="274320"/>
          </a:xfrm>
          <a:prstGeom prst="rect">
            <a:avLst/>
          </a:prstGeom>
          <a:noFill/>
        </p:spPr>
        <p:txBody>
          <a:bodyPr wrap="square" lIns="36576" tIns="27432" rIns="36576" bIns="18288" anchor="t">
            <a:spAutoFit/>
          </a:bodyPr>
          <a:lstStyle/>
          <a:p>
            <a:pPr algn="l"/>
            <a:r>
              <a:rPr sz="1200" b="1">
                <a:solidFill>
                  <a:srgbClr val="28303E"/>
                </a:solidFill>
                <a:latin typeface="Aptos"/>
              </a:rPr>
              <a:t>156,905</a:t>
            </a:r>
          </a:p>
        </p:txBody>
      </p:sp>
      <p:sp>
        <p:nvSpPr>
          <p:cNvPr id="25" name="TextBox 24"/>
          <p:cNvSpPr txBox="1"/>
          <p:nvPr/>
        </p:nvSpPr>
        <p:spPr>
          <a:xfrm>
            <a:off x="8686800" y="3538728"/>
            <a:ext cx="1371600" cy="274320"/>
          </a:xfrm>
          <a:prstGeom prst="rect">
            <a:avLst/>
          </a:prstGeom>
          <a:noFill/>
        </p:spPr>
        <p:txBody>
          <a:bodyPr wrap="square" lIns="36576" tIns="27432" rIns="36576" bIns="18288" anchor="t">
            <a:spAutoFit/>
          </a:bodyPr>
          <a:lstStyle/>
          <a:p>
            <a:pPr algn="l"/>
            <a:r>
              <a:rPr sz="1100" b="0">
                <a:solidFill>
                  <a:srgbClr val="646E7D"/>
                </a:solidFill>
                <a:latin typeface="Aptos"/>
              </a:rPr>
              <a:t>849 units</a:t>
            </a:r>
          </a:p>
        </p:txBody>
      </p:sp>
      <p:sp>
        <p:nvSpPr>
          <p:cNvPr id="26" name="TextBox 25"/>
          <p:cNvSpPr txBox="1"/>
          <p:nvPr/>
        </p:nvSpPr>
        <p:spPr>
          <a:xfrm>
            <a:off x="822960" y="4251960"/>
            <a:ext cx="1645920" cy="228600"/>
          </a:xfrm>
          <a:prstGeom prst="rect">
            <a:avLst/>
          </a:prstGeom>
          <a:noFill/>
        </p:spPr>
        <p:txBody>
          <a:bodyPr wrap="square" lIns="36576" tIns="27432" rIns="36576" bIns="18288" anchor="t">
            <a:spAutoFit/>
          </a:bodyPr>
          <a:lstStyle/>
          <a:p>
            <a:pPr algn="l"/>
            <a:r>
              <a:rPr sz="1300" b="1">
                <a:solidFill>
                  <a:srgbClr val="13254F"/>
                </a:solidFill>
                <a:latin typeface="Aptos"/>
              </a:rPr>
              <a:t>Clothing</a:t>
            </a:r>
          </a:p>
        </p:txBody>
      </p:sp>
      <p:sp>
        <p:nvSpPr>
          <p:cNvPr id="27" name="Rounded Rectangle 26"/>
          <p:cNvSpPr/>
          <p:nvPr/>
        </p:nvSpPr>
        <p:spPr>
          <a:xfrm>
            <a:off x="2560320" y="4270248"/>
            <a:ext cx="4572000" cy="201168"/>
          </a:xfrm>
          <a:prstGeom prst="roundRect">
            <a:avLst/>
          </a:prstGeom>
          <a:solidFill>
            <a:srgbClr val="E0E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2560320" y="4270248"/>
            <a:ext cx="4533391" cy="201168"/>
          </a:xfrm>
          <a:prstGeom prst="roundRect">
            <a:avLst/>
          </a:prstGeom>
          <a:solidFill>
            <a:srgbClr val="34C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0" y="4224528"/>
            <a:ext cx="1097280" cy="274320"/>
          </a:xfrm>
          <a:prstGeom prst="rect">
            <a:avLst/>
          </a:prstGeom>
          <a:noFill/>
        </p:spPr>
        <p:txBody>
          <a:bodyPr wrap="square" lIns="36576" tIns="27432" rIns="36576" bIns="18288" anchor="t">
            <a:spAutoFit/>
          </a:bodyPr>
          <a:lstStyle/>
          <a:p>
            <a:pPr algn="l"/>
            <a:r>
              <a:rPr sz="1200" b="1">
                <a:solidFill>
                  <a:srgbClr val="28303E"/>
                </a:solidFill>
                <a:latin typeface="Aptos"/>
              </a:rPr>
              <a:t>155,580</a:t>
            </a:r>
          </a:p>
        </p:txBody>
      </p:sp>
      <p:sp>
        <p:nvSpPr>
          <p:cNvPr id="30" name="TextBox 29"/>
          <p:cNvSpPr txBox="1"/>
          <p:nvPr/>
        </p:nvSpPr>
        <p:spPr>
          <a:xfrm>
            <a:off x="8686800" y="4224528"/>
            <a:ext cx="1371600" cy="274320"/>
          </a:xfrm>
          <a:prstGeom prst="rect">
            <a:avLst/>
          </a:prstGeom>
          <a:noFill/>
        </p:spPr>
        <p:txBody>
          <a:bodyPr wrap="square" lIns="36576" tIns="27432" rIns="36576" bIns="18288" anchor="t">
            <a:spAutoFit/>
          </a:bodyPr>
          <a:lstStyle/>
          <a:p>
            <a:pPr algn="l"/>
            <a:r>
              <a:rPr sz="1100" b="0">
                <a:solidFill>
                  <a:srgbClr val="646E7D"/>
                </a:solidFill>
                <a:latin typeface="Aptos"/>
              </a:rPr>
              <a:t>894 units</a:t>
            </a:r>
          </a:p>
        </p:txBody>
      </p:sp>
      <p:sp>
        <p:nvSpPr>
          <p:cNvPr id="31" name="TextBox 30"/>
          <p:cNvSpPr txBox="1"/>
          <p:nvPr/>
        </p:nvSpPr>
        <p:spPr>
          <a:xfrm>
            <a:off x="822960" y="4937760"/>
            <a:ext cx="1645920" cy="228600"/>
          </a:xfrm>
          <a:prstGeom prst="rect">
            <a:avLst/>
          </a:prstGeom>
          <a:noFill/>
        </p:spPr>
        <p:txBody>
          <a:bodyPr wrap="square" lIns="36576" tIns="27432" rIns="36576" bIns="18288" anchor="t">
            <a:spAutoFit/>
          </a:bodyPr>
          <a:lstStyle/>
          <a:p>
            <a:pPr algn="l"/>
            <a:r>
              <a:rPr sz="1300" b="1">
                <a:solidFill>
                  <a:srgbClr val="13254F"/>
                </a:solidFill>
                <a:latin typeface="Aptos"/>
              </a:rPr>
              <a:t>Beauty</a:t>
            </a:r>
          </a:p>
        </p:txBody>
      </p:sp>
      <p:sp>
        <p:nvSpPr>
          <p:cNvPr id="32" name="Rounded Rectangle 31"/>
          <p:cNvSpPr/>
          <p:nvPr/>
        </p:nvSpPr>
        <p:spPr>
          <a:xfrm>
            <a:off x="2560320" y="4956048"/>
            <a:ext cx="4572000" cy="201168"/>
          </a:xfrm>
          <a:prstGeom prst="roundRect">
            <a:avLst/>
          </a:prstGeom>
          <a:solidFill>
            <a:srgbClr val="E0E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2560320" y="4956048"/>
            <a:ext cx="4181833" cy="201168"/>
          </a:xfrm>
          <a:prstGeom prst="roundRect">
            <a:avLst/>
          </a:prstGeom>
          <a:solidFill>
            <a:srgbClr val="F46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0" y="4910328"/>
            <a:ext cx="1097280" cy="274320"/>
          </a:xfrm>
          <a:prstGeom prst="rect">
            <a:avLst/>
          </a:prstGeom>
          <a:noFill/>
        </p:spPr>
        <p:txBody>
          <a:bodyPr wrap="square" lIns="36576" tIns="27432" rIns="36576" bIns="18288" anchor="t">
            <a:spAutoFit/>
          </a:bodyPr>
          <a:lstStyle/>
          <a:p>
            <a:pPr algn="l"/>
            <a:r>
              <a:rPr sz="1200" b="1">
                <a:solidFill>
                  <a:srgbClr val="28303E"/>
                </a:solidFill>
                <a:latin typeface="Aptos"/>
              </a:rPr>
              <a:t>143,515</a:t>
            </a:r>
          </a:p>
        </p:txBody>
      </p:sp>
      <p:sp>
        <p:nvSpPr>
          <p:cNvPr id="35" name="TextBox 34"/>
          <p:cNvSpPr txBox="1"/>
          <p:nvPr/>
        </p:nvSpPr>
        <p:spPr>
          <a:xfrm>
            <a:off x="8686800" y="4910328"/>
            <a:ext cx="1371600" cy="274320"/>
          </a:xfrm>
          <a:prstGeom prst="rect">
            <a:avLst/>
          </a:prstGeom>
          <a:noFill/>
        </p:spPr>
        <p:txBody>
          <a:bodyPr wrap="square" lIns="36576" tIns="27432" rIns="36576" bIns="18288" anchor="t">
            <a:spAutoFit/>
          </a:bodyPr>
          <a:lstStyle/>
          <a:p>
            <a:pPr algn="l"/>
            <a:r>
              <a:rPr sz="1100" b="0">
                <a:solidFill>
                  <a:srgbClr val="646E7D"/>
                </a:solidFill>
                <a:latin typeface="Aptos"/>
              </a:rPr>
              <a:t>771 units</a:t>
            </a:r>
          </a:p>
        </p:txBody>
      </p:sp>
      <p:sp>
        <p:nvSpPr>
          <p:cNvPr id="36" name="TextBox 35"/>
          <p:cNvSpPr txBox="1"/>
          <p:nvPr/>
        </p:nvSpPr>
        <p:spPr>
          <a:xfrm>
            <a:off x="777240" y="5715000"/>
            <a:ext cx="1828800" cy="274320"/>
          </a:xfrm>
          <a:prstGeom prst="rect">
            <a:avLst/>
          </a:prstGeom>
          <a:noFill/>
        </p:spPr>
        <p:txBody>
          <a:bodyPr wrap="square" lIns="36576" tIns="27432" rIns="36576" bIns="18288" anchor="t">
            <a:spAutoFit/>
          </a:bodyPr>
          <a:lstStyle/>
          <a:p>
            <a:pPr algn="l"/>
            <a:r>
              <a:rPr sz="1200" b="1">
                <a:solidFill>
                  <a:srgbClr val="1989FF"/>
                </a:solidFill>
                <a:latin typeface="Aptos"/>
              </a:rPr>
              <a:t>MONTHLY SALES</a:t>
            </a:r>
          </a:p>
        </p:txBody>
      </p:sp>
      <p:sp>
        <p:nvSpPr>
          <p:cNvPr id="37" name="TextBox 36"/>
          <p:cNvSpPr txBox="1"/>
          <p:nvPr/>
        </p:nvSpPr>
        <p:spPr>
          <a:xfrm>
            <a:off x="2423160" y="5687568"/>
            <a:ext cx="8595360" cy="320040"/>
          </a:xfrm>
          <a:prstGeom prst="rect">
            <a:avLst/>
          </a:prstGeom>
          <a:noFill/>
        </p:spPr>
        <p:txBody>
          <a:bodyPr wrap="square" lIns="36576" tIns="27432" rIns="36576" bIns="18288" anchor="t">
            <a:spAutoFit/>
          </a:bodyPr>
          <a:lstStyle/>
          <a:p>
            <a:pPr algn="l"/>
            <a:r>
              <a:rPr sz="1400" b="1">
                <a:solidFill>
                  <a:srgbClr val="13254F"/>
                </a:solidFill>
                <a:latin typeface="Aptos"/>
              </a:rPr>
              <a:t>Highest: May (53,150)     •     Lowest: Sep (23,620)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square" lIns="36576" tIns="27432" rIns="36576" bIns="18288" anchor="t">
            <a:spAutoFit/>
          </a:bodyPr>
          <a:lstStyle/>
          <a:p>
            <a:pPr algn="l"/>
            <a:r>
              <a:rPr sz="2800" b="1">
                <a:solidFill>
                  <a:srgbClr val="13254F"/>
                </a:solidFill>
                <a:latin typeface="Aptos"/>
              </a:rPr>
              <a:t>7. Insights — So What Does It Mean?</a:t>
            </a:r>
          </a:p>
        </p:txBody>
      </p:sp>
      <p:sp>
        <p:nvSpPr>
          <p:cNvPr id="3" name="Rectangle 2"/>
          <p:cNvSpPr/>
          <p:nvPr/>
        </p:nvSpPr>
        <p:spPr>
          <a:xfrm>
            <a:off x="530352" y="941832"/>
            <a:ext cx="1051560" cy="50292"/>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645920"/>
            <a:ext cx="10652760" cy="84124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810512"/>
            <a:ext cx="457200" cy="274320"/>
          </a:xfrm>
          <a:prstGeom prst="rect">
            <a:avLst/>
          </a:prstGeom>
          <a:noFill/>
        </p:spPr>
        <p:txBody>
          <a:bodyPr wrap="square" lIns="36576" tIns="27432" rIns="36576" bIns="18288" anchor="t">
            <a:spAutoFit/>
          </a:bodyPr>
          <a:lstStyle/>
          <a:p>
            <a:pPr algn="l"/>
            <a:r>
              <a:rPr sz="1400" b="1">
                <a:solidFill>
                  <a:srgbClr val="1989FF"/>
                </a:solidFill>
                <a:latin typeface="Aptos"/>
              </a:rPr>
              <a:t>01</a:t>
            </a:r>
          </a:p>
        </p:txBody>
      </p:sp>
      <p:sp>
        <p:nvSpPr>
          <p:cNvPr id="8" name="TextBox 7"/>
          <p:cNvSpPr txBox="1"/>
          <p:nvPr/>
        </p:nvSpPr>
        <p:spPr>
          <a:xfrm>
            <a:off x="1554480" y="1755648"/>
            <a:ext cx="2423160" cy="274320"/>
          </a:xfrm>
          <a:prstGeom prst="rect">
            <a:avLst/>
          </a:prstGeom>
          <a:noFill/>
        </p:spPr>
        <p:txBody>
          <a:bodyPr wrap="square" lIns="36576" tIns="27432" rIns="36576" bIns="18288" anchor="t">
            <a:spAutoFit/>
          </a:bodyPr>
          <a:lstStyle/>
          <a:p>
            <a:pPr algn="l"/>
            <a:r>
              <a:rPr sz="1400" b="1">
                <a:solidFill>
                  <a:srgbClr val="13254F"/>
                </a:solidFill>
                <a:latin typeface="Aptos"/>
              </a:rPr>
              <a:t>Category revenue is close</a:t>
            </a:r>
          </a:p>
        </p:txBody>
      </p:sp>
      <p:sp>
        <p:nvSpPr>
          <p:cNvPr id="9" name="TextBox 8"/>
          <p:cNvSpPr txBox="1"/>
          <p:nvPr/>
        </p:nvSpPr>
        <p:spPr>
          <a:xfrm>
            <a:off x="3886200" y="1755648"/>
            <a:ext cx="7223760" cy="566928"/>
          </a:xfrm>
          <a:prstGeom prst="rect">
            <a:avLst/>
          </a:prstGeom>
          <a:noFill/>
        </p:spPr>
        <p:txBody>
          <a:bodyPr wrap="square" lIns="36576" tIns="27432" rIns="36576" bIns="18288" anchor="t">
            <a:spAutoFit/>
          </a:bodyPr>
          <a:lstStyle/>
          <a:p>
            <a:pPr algn="l"/>
            <a:r>
              <a:rPr sz="1200" b="0">
                <a:solidFill>
                  <a:srgbClr val="28303E"/>
                </a:solidFill>
                <a:latin typeface="Aptos"/>
              </a:rPr>
              <a:t>Electronics (156,905) narrowly leads Clothing (155,580); Beauty records 143,515. No single category dominates revenue.</a:t>
            </a:r>
          </a:p>
        </p:txBody>
      </p:sp>
      <p:sp>
        <p:nvSpPr>
          <p:cNvPr id="10" name="Rounded Rectangle 9"/>
          <p:cNvSpPr/>
          <p:nvPr/>
        </p:nvSpPr>
        <p:spPr>
          <a:xfrm>
            <a:off x="777240" y="2724912"/>
            <a:ext cx="10652760" cy="84124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889504"/>
            <a:ext cx="457200" cy="274320"/>
          </a:xfrm>
          <a:prstGeom prst="rect">
            <a:avLst/>
          </a:prstGeom>
          <a:noFill/>
        </p:spPr>
        <p:txBody>
          <a:bodyPr wrap="square" lIns="36576" tIns="27432" rIns="36576" bIns="18288" anchor="t">
            <a:spAutoFit/>
          </a:bodyPr>
          <a:lstStyle/>
          <a:p>
            <a:pPr algn="l"/>
            <a:r>
              <a:rPr sz="1400" b="1">
                <a:solidFill>
                  <a:srgbClr val="1989FF"/>
                </a:solidFill>
                <a:latin typeface="Aptos"/>
              </a:rPr>
              <a:t>02</a:t>
            </a:r>
          </a:p>
        </p:txBody>
      </p:sp>
      <p:sp>
        <p:nvSpPr>
          <p:cNvPr id="12" name="TextBox 11"/>
          <p:cNvSpPr txBox="1"/>
          <p:nvPr/>
        </p:nvSpPr>
        <p:spPr>
          <a:xfrm>
            <a:off x="1554480" y="2834640"/>
            <a:ext cx="2423160" cy="274320"/>
          </a:xfrm>
          <a:prstGeom prst="rect">
            <a:avLst/>
          </a:prstGeom>
          <a:noFill/>
        </p:spPr>
        <p:txBody>
          <a:bodyPr wrap="square" lIns="36576" tIns="27432" rIns="36576" bIns="18288" anchor="t">
            <a:spAutoFit/>
          </a:bodyPr>
          <a:lstStyle/>
          <a:p>
            <a:pPr algn="l"/>
            <a:r>
              <a:rPr sz="1400" b="1">
                <a:solidFill>
                  <a:srgbClr val="13254F"/>
                </a:solidFill>
                <a:latin typeface="Aptos"/>
              </a:rPr>
              <a:t>Volume leader differs slightly</a:t>
            </a:r>
          </a:p>
        </p:txBody>
      </p:sp>
      <p:sp>
        <p:nvSpPr>
          <p:cNvPr id="13" name="TextBox 12"/>
          <p:cNvSpPr txBox="1"/>
          <p:nvPr/>
        </p:nvSpPr>
        <p:spPr>
          <a:xfrm>
            <a:off x="3886200" y="2834640"/>
            <a:ext cx="7223760" cy="566928"/>
          </a:xfrm>
          <a:prstGeom prst="rect">
            <a:avLst/>
          </a:prstGeom>
          <a:noFill/>
        </p:spPr>
        <p:txBody>
          <a:bodyPr wrap="square" lIns="36576" tIns="27432" rIns="36576" bIns="18288" anchor="t">
            <a:spAutoFit/>
          </a:bodyPr>
          <a:lstStyle/>
          <a:p>
            <a:pPr algn="l"/>
            <a:r>
              <a:rPr sz="1200" b="0">
                <a:solidFill>
                  <a:srgbClr val="28303E"/>
                </a:solidFill>
                <a:latin typeface="Aptos"/>
              </a:rPr>
              <a:t>Clothing has the highest quantity (894 units), followed by Electronics (849) and Beauty (771).</a:t>
            </a:r>
          </a:p>
        </p:txBody>
      </p:sp>
      <p:sp>
        <p:nvSpPr>
          <p:cNvPr id="14" name="Rounded Rectangle 13"/>
          <p:cNvSpPr/>
          <p:nvPr/>
        </p:nvSpPr>
        <p:spPr>
          <a:xfrm>
            <a:off x="777240" y="3803904"/>
            <a:ext cx="10652760" cy="84124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968496"/>
            <a:ext cx="457200" cy="274320"/>
          </a:xfrm>
          <a:prstGeom prst="rect">
            <a:avLst/>
          </a:prstGeom>
          <a:noFill/>
        </p:spPr>
        <p:txBody>
          <a:bodyPr wrap="square" lIns="36576" tIns="27432" rIns="36576" bIns="18288" anchor="t">
            <a:spAutoFit/>
          </a:bodyPr>
          <a:lstStyle/>
          <a:p>
            <a:pPr algn="l"/>
            <a:r>
              <a:rPr sz="1400" b="1">
                <a:solidFill>
                  <a:srgbClr val="1989FF"/>
                </a:solidFill>
                <a:latin typeface="Aptos"/>
              </a:rPr>
              <a:t>03</a:t>
            </a:r>
          </a:p>
        </p:txBody>
      </p:sp>
      <p:sp>
        <p:nvSpPr>
          <p:cNvPr id="16" name="TextBox 15"/>
          <p:cNvSpPr txBox="1"/>
          <p:nvPr/>
        </p:nvSpPr>
        <p:spPr>
          <a:xfrm>
            <a:off x="1554480" y="3913632"/>
            <a:ext cx="2423160" cy="274320"/>
          </a:xfrm>
          <a:prstGeom prst="rect">
            <a:avLst/>
          </a:prstGeom>
          <a:noFill/>
        </p:spPr>
        <p:txBody>
          <a:bodyPr wrap="square" lIns="36576" tIns="27432" rIns="36576" bIns="18288" anchor="t">
            <a:spAutoFit/>
          </a:bodyPr>
          <a:lstStyle/>
          <a:p>
            <a:pPr algn="l"/>
            <a:r>
              <a:rPr sz="1400" b="1">
                <a:solidFill>
                  <a:srgbClr val="13254F"/>
                </a:solidFill>
                <a:latin typeface="Aptos"/>
              </a:rPr>
              <a:t>Sales vary across months</a:t>
            </a:r>
          </a:p>
        </p:txBody>
      </p:sp>
      <p:sp>
        <p:nvSpPr>
          <p:cNvPr id="17" name="TextBox 16"/>
          <p:cNvSpPr txBox="1"/>
          <p:nvPr/>
        </p:nvSpPr>
        <p:spPr>
          <a:xfrm>
            <a:off x="3886200" y="3913632"/>
            <a:ext cx="7223760" cy="566928"/>
          </a:xfrm>
          <a:prstGeom prst="rect">
            <a:avLst/>
          </a:prstGeom>
          <a:noFill/>
        </p:spPr>
        <p:txBody>
          <a:bodyPr wrap="square" lIns="36576" tIns="27432" rIns="36576" bIns="18288" anchor="t">
            <a:spAutoFit/>
          </a:bodyPr>
          <a:lstStyle/>
          <a:p>
            <a:pPr algn="l"/>
            <a:r>
              <a:rPr sz="1200" b="0">
                <a:solidFill>
                  <a:srgbClr val="28303E"/>
                </a:solidFill>
                <a:latin typeface="Aptos"/>
              </a:rPr>
              <a:t>May is the strongest month by revenue, while Sep is the weakest. Investigate promotions, seasonality, and stock availability.</a:t>
            </a:r>
          </a:p>
        </p:txBody>
      </p:sp>
      <p:sp>
        <p:nvSpPr>
          <p:cNvPr id="18" name="Rounded Rectangle 17"/>
          <p:cNvSpPr/>
          <p:nvPr/>
        </p:nvSpPr>
        <p:spPr>
          <a:xfrm>
            <a:off x="777240" y="4882896"/>
            <a:ext cx="10652760" cy="841248"/>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5047488"/>
            <a:ext cx="457200" cy="274320"/>
          </a:xfrm>
          <a:prstGeom prst="rect">
            <a:avLst/>
          </a:prstGeom>
          <a:noFill/>
        </p:spPr>
        <p:txBody>
          <a:bodyPr wrap="square" lIns="36576" tIns="27432" rIns="36576" bIns="18288" anchor="t">
            <a:spAutoFit/>
          </a:bodyPr>
          <a:lstStyle/>
          <a:p>
            <a:pPr algn="l"/>
            <a:r>
              <a:rPr sz="1400" b="1">
                <a:solidFill>
                  <a:srgbClr val="1989FF"/>
                </a:solidFill>
                <a:latin typeface="Aptos"/>
              </a:rPr>
              <a:t>04</a:t>
            </a:r>
          </a:p>
        </p:txBody>
      </p:sp>
      <p:sp>
        <p:nvSpPr>
          <p:cNvPr id="20" name="TextBox 19"/>
          <p:cNvSpPr txBox="1"/>
          <p:nvPr/>
        </p:nvSpPr>
        <p:spPr>
          <a:xfrm>
            <a:off x="1554480" y="4992624"/>
            <a:ext cx="2423160" cy="274320"/>
          </a:xfrm>
          <a:prstGeom prst="rect">
            <a:avLst/>
          </a:prstGeom>
          <a:noFill/>
        </p:spPr>
        <p:txBody>
          <a:bodyPr wrap="square" lIns="36576" tIns="27432" rIns="36576" bIns="18288" anchor="t">
            <a:spAutoFit/>
          </a:bodyPr>
          <a:lstStyle/>
          <a:p>
            <a:pPr algn="l"/>
            <a:r>
              <a:rPr sz="1400" b="1">
                <a:solidFill>
                  <a:srgbClr val="13254F"/>
                </a:solidFill>
                <a:latin typeface="Aptos"/>
              </a:rPr>
              <a:t>Customer mix is balanced</a:t>
            </a:r>
          </a:p>
        </p:txBody>
      </p:sp>
      <p:sp>
        <p:nvSpPr>
          <p:cNvPr id="21" name="TextBox 20"/>
          <p:cNvSpPr txBox="1"/>
          <p:nvPr/>
        </p:nvSpPr>
        <p:spPr>
          <a:xfrm>
            <a:off x="3886200" y="4992624"/>
            <a:ext cx="7223760" cy="566928"/>
          </a:xfrm>
          <a:prstGeom prst="rect">
            <a:avLst/>
          </a:prstGeom>
          <a:noFill/>
        </p:spPr>
        <p:txBody>
          <a:bodyPr wrap="square" lIns="36576" tIns="27432" rIns="36576" bIns="18288" anchor="t">
            <a:spAutoFit/>
          </a:bodyPr>
          <a:lstStyle/>
          <a:p>
            <a:pPr algn="l"/>
            <a:r>
              <a:rPr sz="1200" b="0">
                <a:solidFill>
                  <a:srgbClr val="28303E"/>
                </a:solidFill>
                <a:latin typeface="Aptos"/>
              </a:rPr>
              <a:t>Female records are 51% and male records 49%; the difference is small, so avoid assuming a strong gender skew.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square" lIns="36576" tIns="27432" rIns="36576" bIns="18288" anchor="t">
            <a:spAutoFit/>
          </a:bodyPr>
          <a:lstStyle/>
          <a:p>
            <a:pPr algn="l"/>
            <a:r>
              <a:rPr sz="2800" b="1">
                <a:solidFill>
                  <a:srgbClr val="13254F"/>
                </a:solidFill>
                <a:latin typeface="Aptos"/>
              </a:rPr>
              <a:t>8. Recommendations &amp; Next Steps</a:t>
            </a:r>
          </a:p>
        </p:txBody>
      </p:sp>
      <p:sp>
        <p:nvSpPr>
          <p:cNvPr id="3" name="Rectangle 2"/>
          <p:cNvSpPr/>
          <p:nvPr/>
        </p:nvSpPr>
        <p:spPr>
          <a:xfrm>
            <a:off x="530352" y="941832"/>
            <a:ext cx="1051560" cy="50292"/>
          </a:xfrm>
          <a:prstGeom prst="rect">
            <a:avLst/>
          </a:prstGeom>
          <a:solidFill>
            <a:srgbClr val="198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737360"/>
            <a:ext cx="5166360" cy="141732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920240"/>
            <a:ext cx="4709160" cy="320040"/>
          </a:xfrm>
          <a:prstGeom prst="rect">
            <a:avLst/>
          </a:prstGeom>
          <a:noFill/>
        </p:spPr>
        <p:txBody>
          <a:bodyPr wrap="square" lIns="36576" tIns="27432" rIns="36576" bIns="18288" anchor="t">
            <a:spAutoFit/>
          </a:bodyPr>
          <a:lstStyle/>
          <a:p>
            <a:pPr algn="l"/>
            <a:r>
              <a:rPr sz="1500" b="1">
                <a:solidFill>
                  <a:srgbClr val="13254F"/>
                </a:solidFill>
                <a:latin typeface="Aptos"/>
              </a:rPr>
              <a:t>Protect category balance</a:t>
            </a:r>
          </a:p>
        </p:txBody>
      </p:sp>
      <p:sp>
        <p:nvSpPr>
          <p:cNvPr id="8" name="TextBox 7"/>
          <p:cNvSpPr txBox="1"/>
          <p:nvPr/>
        </p:nvSpPr>
        <p:spPr>
          <a:xfrm>
            <a:off x="978408" y="2331720"/>
            <a:ext cx="4709160" cy="640080"/>
          </a:xfrm>
          <a:prstGeom prst="rect">
            <a:avLst/>
          </a:prstGeom>
          <a:noFill/>
        </p:spPr>
        <p:txBody>
          <a:bodyPr wrap="square" lIns="36576" tIns="27432" rIns="36576" bIns="18288" anchor="t">
            <a:spAutoFit/>
          </a:bodyPr>
          <a:lstStyle/>
          <a:p>
            <a:pPr algn="l"/>
            <a:r>
              <a:rPr sz="1200" b="0">
                <a:solidFill>
                  <a:srgbClr val="28303E"/>
                </a:solidFill>
                <a:latin typeface="Aptos"/>
              </a:rPr>
              <a:t>Maintain availability across all three categories; review category-level margins before shifting budget.</a:t>
            </a:r>
          </a:p>
        </p:txBody>
      </p:sp>
      <p:sp>
        <p:nvSpPr>
          <p:cNvPr id="9" name="Rounded Rectangle 8"/>
          <p:cNvSpPr/>
          <p:nvPr/>
        </p:nvSpPr>
        <p:spPr>
          <a:xfrm>
            <a:off x="6355079" y="1737360"/>
            <a:ext cx="5166360" cy="141732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56247" y="1920240"/>
            <a:ext cx="4709160" cy="320040"/>
          </a:xfrm>
          <a:prstGeom prst="rect">
            <a:avLst/>
          </a:prstGeom>
          <a:noFill/>
        </p:spPr>
        <p:txBody>
          <a:bodyPr wrap="square" lIns="36576" tIns="27432" rIns="36576" bIns="18288" anchor="t">
            <a:spAutoFit/>
          </a:bodyPr>
          <a:lstStyle/>
          <a:p>
            <a:pPr algn="l"/>
            <a:r>
              <a:rPr sz="1500" b="1">
                <a:solidFill>
                  <a:srgbClr val="13254F"/>
                </a:solidFill>
                <a:latin typeface="Aptos"/>
              </a:rPr>
              <a:t>Investigate monthly peaks and dips</a:t>
            </a:r>
          </a:p>
        </p:txBody>
      </p:sp>
      <p:sp>
        <p:nvSpPr>
          <p:cNvPr id="11" name="TextBox 10"/>
          <p:cNvSpPr txBox="1"/>
          <p:nvPr/>
        </p:nvSpPr>
        <p:spPr>
          <a:xfrm>
            <a:off x="6556247" y="2331720"/>
            <a:ext cx="4709160" cy="640080"/>
          </a:xfrm>
          <a:prstGeom prst="rect">
            <a:avLst/>
          </a:prstGeom>
          <a:noFill/>
        </p:spPr>
        <p:txBody>
          <a:bodyPr wrap="square" lIns="36576" tIns="27432" rIns="36576" bIns="18288" anchor="t">
            <a:spAutoFit/>
          </a:bodyPr>
          <a:lstStyle/>
          <a:p>
            <a:pPr algn="l"/>
            <a:r>
              <a:rPr sz="1200" b="0">
                <a:solidFill>
                  <a:srgbClr val="28303E"/>
                </a:solidFill>
                <a:latin typeface="Aptos"/>
              </a:rPr>
              <a:t>Compare promotions, holidays, inventory, and marketing activity with monthly sales to explain variation.</a:t>
            </a:r>
          </a:p>
        </p:txBody>
      </p:sp>
      <p:sp>
        <p:nvSpPr>
          <p:cNvPr id="12" name="Rounded Rectangle 11"/>
          <p:cNvSpPr/>
          <p:nvPr/>
        </p:nvSpPr>
        <p:spPr>
          <a:xfrm>
            <a:off x="777240" y="3566160"/>
            <a:ext cx="5166360" cy="141732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3749039"/>
            <a:ext cx="4709160" cy="320040"/>
          </a:xfrm>
          <a:prstGeom prst="rect">
            <a:avLst/>
          </a:prstGeom>
          <a:noFill/>
        </p:spPr>
        <p:txBody>
          <a:bodyPr wrap="square" lIns="36576" tIns="27432" rIns="36576" bIns="18288" anchor="t">
            <a:spAutoFit/>
          </a:bodyPr>
          <a:lstStyle/>
          <a:p>
            <a:pPr algn="l"/>
            <a:r>
              <a:rPr sz="1500" b="1">
                <a:solidFill>
                  <a:srgbClr val="13254F"/>
                </a:solidFill>
                <a:latin typeface="Aptos"/>
              </a:rPr>
              <a:t>Improve dashboard exploration</a:t>
            </a:r>
          </a:p>
        </p:txBody>
      </p:sp>
      <p:sp>
        <p:nvSpPr>
          <p:cNvPr id="14" name="TextBox 13"/>
          <p:cNvSpPr txBox="1"/>
          <p:nvPr/>
        </p:nvSpPr>
        <p:spPr>
          <a:xfrm>
            <a:off x="978408" y="4160520"/>
            <a:ext cx="4709160" cy="640080"/>
          </a:xfrm>
          <a:prstGeom prst="rect">
            <a:avLst/>
          </a:prstGeom>
          <a:noFill/>
        </p:spPr>
        <p:txBody>
          <a:bodyPr wrap="square" lIns="36576" tIns="27432" rIns="36576" bIns="18288" anchor="t">
            <a:spAutoFit/>
          </a:bodyPr>
          <a:lstStyle/>
          <a:p>
            <a:pPr algn="l"/>
            <a:r>
              <a:rPr sz="1200" b="0">
                <a:solidFill>
                  <a:srgbClr val="28303E"/>
                </a:solidFill>
                <a:latin typeface="Aptos"/>
              </a:rPr>
              <a:t>Use slicers to compare categories and customer groups; add a date-range slicer for faster period comparisons.</a:t>
            </a:r>
          </a:p>
        </p:txBody>
      </p:sp>
      <p:sp>
        <p:nvSpPr>
          <p:cNvPr id="15" name="Rounded Rectangle 14"/>
          <p:cNvSpPr/>
          <p:nvPr/>
        </p:nvSpPr>
        <p:spPr>
          <a:xfrm>
            <a:off x="6355079" y="3566160"/>
            <a:ext cx="5166360" cy="1417320"/>
          </a:xfrm>
          <a:prstGeom prst="roundRect">
            <a:avLst/>
          </a:prstGeom>
          <a:solidFill>
            <a:srgbClr val="FFFFFF"/>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56247" y="3749039"/>
            <a:ext cx="4709160" cy="320040"/>
          </a:xfrm>
          <a:prstGeom prst="rect">
            <a:avLst/>
          </a:prstGeom>
          <a:noFill/>
        </p:spPr>
        <p:txBody>
          <a:bodyPr wrap="square" lIns="36576" tIns="27432" rIns="36576" bIns="18288" anchor="t">
            <a:spAutoFit/>
          </a:bodyPr>
          <a:lstStyle/>
          <a:p>
            <a:pPr algn="l"/>
            <a:r>
              <a:rPr sz="1500" b="1">
                <a:solidFill>
                  <a:srgbClr val="13254F"/>
                </a:solidFill>
                <a:latin typeface="Aptos"/>
              </a:rPr>
              <a:t>Extend the analysis</a:t>
            </a:r>
          </a:p>
        </p:txBody>
      </p:sp>
      <p:sp>
        <p:nvSpPr>
          <p:cNvPr id="17" name="TextBox 16"/>
          <p:cNvSpPr txBox="1"/>
          <p:nvPr/>
        </p:nvSpPr>
        <p:spPr>
          <a:xfrm>
            <a:off x="6556247" y="4160520"/>
            <a:ext cx="4709160" cy="640080"/>
          </a:xfrm>
          <a:prstGeom prst="rect">
            <a:avLst/>
          </a:prstGeom>
          <a:noFill/>
        </p:spPr>
        <p:txBody>
          <a:bodyPr wrap="square" lIns="36576" tIns="27432" rIns="36576" bIns="18288" anchor="t">
            <a:spAutoFit/>
          </a:bodyPr>
          <a:lstStyle/>
          <a:p>
            <a:pPr algn="l"/>
            <a:r>
              <a:rPr sz="1200" b="0">
                <a:solidFill>
                  <a:srgbClr val="28303E"/>
                </a:solidFill>
                <a:latin typeface="Aptos"/>
              </a:rPr>
              <a:t>If available, add profit, discount, product-level, store/region, and repeat-customer fields for deeper business decisions.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3254F"/>
        </a:solidFill>
        <a:effectLst/>
      </p:bgPr>
    </p:bg>
    <p:spTree>
      <p:nvGrpSpPr>
        <p:cNvPr id="1" name=""/>
        <p:cNvGrpSpPr/>
        <p:nvPr/>
      </p:nvGrpSpPr>
      <p:grpSpPr>
        <a:xfrm>
          <a:off x="0" y="0"/>
          <a:ext cx="0" cy="0"/>
          <a:chOff x="0" y="0"/>
          <a:chExt cx="0" cy="0"/>
        </a:xfrm>
      </p:grpSpPr>
      <p:sp>
        <p:nvSpPr>
          <p:cNvPr id="2" name="TextBox 1"/>
          <p:cNvSpPr txBox="1"/>
          <p:nvPr/>
        </p:nvSpPr>
        <p:spPr>
          <a:xfrm>
            <a:off x="731520" y="640080"/>
            <a:ext cx="2743200" cy="320040"/>
          </a:xfrm>
          <a:prstGeom prst="rect">
            <a:avLst/>
          </a:prstGeom>
          <a:noFill/>
        </p:spPr>
        <p:txBody>
          <a:bodyPr wrap="square" lIns="36576" tIns="27432" rIns="36576" bIns="18288" anchor="t">
            <a:spAutoFit/>
          </a:bodyPr>
          <a:lstStyle/>
          <a:p>
            <a:pPr algn="l"/>
            <a:r>
              <a:rPr sz="1400" b="1">
                <a:solidFill>
                  <a:srgbClr val="34C2E8"/>
                </a:solidFill>
                <a:latin typeface="Aptos"/>
              </a:rPr>
              <a:t>CONCLUSION</a:t>
            </a:r>
          </a:p>
        </p:txBody>
      </p:sp>
      <p:sp>
        <p:nvSpPr>
          <p:cNvPr id="3" name="TextBox 2"/>
          <p:cNvSpPr txBox="1"/>
          <p:nvPr/>
        </p:nvSpPr>
        <p:spPr>
          <a:xfrm>
            <a:off x="731520" y="1188720"/>
            <a:ext cx="9875520" cy="640080"/>
          </a:xfrm>
          <a:prstGeom prst="rect">
            <a:avLst/>
          </a:prstGeom>
          <a:noFill/>
        </p:spPr>
        <p:txBody>
          <a:bodyPr wrap="square" lIns="36576" tIns="27432" rIns="36576" bIns="18288" anchor="t">
            <a:spAutoFit/>
          </a:bodyPr>
          <a:lstStyle/>
          <a:p>
            <a:pPr algn="l"/>
            <a:r>
              <a:rPr sz="3000" b="1">
                <a:solidFill>
                  <a:srgbClr val="FFFFFF"/>
                </a:solidFill>
                <a:latin typeface="Aptos"/>
              </a:rPr>
              <a:t>A clearer view of retail performance</a:t>
            </a:r>
          </a:p>
        </p:txBody>
      </p:sp>
      <p:sp>
        <p:nvSpPr>
          <p:cNvPr id="4" name="TextBox 3"/>
          <p:cNvSpPr txBox="1"/>
          <p:nvPr/>
        </p:nvSpPr>
        <p:spPr>
          <a:xfrm>
            <a:off x="777240" y="2240280"/>
            <a:ext cx="9966960" cy="1143000"/>
          </a:xfrm>
          <a:prstGeom prst="rect">
            <a:avLst/>
          </a:prstGeom>
          <a:noFill/>
        </p:spPr>
        <p:txBody>
          <a:bodyPr wrap="square" lIns="36576" tIns="27432" rIns="36576" bIns="18288" anchor="t">
            <a:spAutoFit/>
          </a:bodyPr>
          <a:lstStyle/>
          <a:p>
            <a:pPr algn="l"/>
            <a:r>
              <a:rPr sz="2000" b="0">
                <a:solidFill>
                  <a:srgbClr val="DDE8F8"/>
                </a:solidFill>
                <a:latin typeface="Aptos"/>
              </a:rPr>
              <a:t>The dataset contains 1,000 transactions and 456,000 in recorded sales. Electronics leads revenue, Clothing leads quantity, and monthly sales vary considerably.</a:t>
            </a:r>
          </a:p>
        </p:txBody>
      </p:sp>
      <p:sp>
        <p:nvSpPr>
          <p:cNvPr id="5" name="TextBox 4"/>
          <p:cNvSpPr txBox="1"/>
          <p:nvPr/>
        </p:nvSpPr>
        <p:spPr>
          <a:xfrm>
            <a:off x="777240" y="3703320"/>
            <a:ext cx="9784080" cy="868680"/>
          </a:xfrm>
          <a:prstGeom prst="rect">
            <a:avLst/>
          </a:prstGeom>
          <a:noFill/>
        </p:spPr>
        <p:txBody>
          <a:bodyPr wrap="square" lIns="36576" tIns="27432" rIns="36576" bIns="18288" anchor="t">
            <a:spAutoFit/>
          </a:bodyPr>
          <a:lstStyle/>
          <a:p>
            <a:pPr algn="l"/>
            <a:r>
              <a:rPr sz="1800" b="0">
                <a:solidFill>
                  <a:srgbClr val="FFFFFF"/>
                </a:solidFill>
                <a:latin typeface="Aptos"/>
              </a:rPr>
              <a:t>The Power BI dashboard combines summary KPIs, category comparisons, customer demographics and monthly transaction trends in one interactive view.</a:t>
            </a:r>
          </a:p>
        </p:txBody>
      </p:sp>
      <p:sp>
        <p:nvSpPr>
          <p:cNvPr id="6" name="TextBox 5"/>
          <p:cNvSpPr txBox="1"/>
          <p:nvPr/>
        </p:nvSpPr>
        <p:spPr>
          <a:xfrm>
            <a:off x="777240" y="5166360"/>
            <a:ext cx="10698480" cy="594360"/>
          </a:xfrm>
          <a:prstGeom prst="rect">
            <a:avLst/>
          </a:prstGeom>
          <a:noFill/>
        </p:spPr>
        <p:txBody>
          <a:bodyPr wrap="square" lIns="36576" tIns="27432" rIns="36576" bIns="18288" anchor="t">
            <a:spAutoFit/>
          </a:bodyPr>
          <a:lstStyle/>
          <a:p>
            <a:pPr algn="l"/>
            <a:r>
              <a:rPr sz="1400" b="1" dirty="0">
                <a:solidFill>
                  <a:srgbClr val="34C2E8"/>
                </a:solidFill>
                <a:latin typeface="Aptos"/>
              </a:rPr>
              <a:t>WHAT?  Show the pattern     WHY?  Explain the context     SO WHAT?  State the insight     NOW WHAT?  Recommend an action</a:t>
            </a:r>
          </a:p>
        </p:txBody>
      </p:sp>
      <p:sp>
        <p:nvSpPr>
          <p:cNvPr id="7" name="TextBox 6"/>
          <p:cNvSpPr txBox="1"/>
          <p:nvPr/>
        </p:nvSpPr>
        <p:spPr>
          <a:xfrm>
            <a:off x="787072" y="5760720"/>
            <a:ext cx="6858000" cy="600164"/>
          </a:xfrm>
          <a:prstGeom prst="rect">
            <a:avLst/>
          </a:prstGeom>
          <a:noFill/>
        </p:spPr>
        <p:txBody>
          <a:bodyPr wrap="square" lIns="36576" tIns="27432" rIns="36576" bIns="18288" anchor="t">
            <a:spAutoFit/>
          </a:bodyPr>
          <a:lstStyle/>
          <a:p>
            <a:pPr algn="l"/>
            <a:r>
              <a:rPr sz="3600" b="1" dirty="0">
                <a:solidFill>
                  <a:srgbClr val="FFFFFF"/>
                </a:solidFill>
                <a:latin typeface="Aptos"/>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TotalTime>
  <Words>1142</Words>
  <Application>Microsoft Office PowerPoint</Application>
  <PresentationFormat>Widescreen</PresentationFormat>
  <Paragraphs>170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Shreya Chauhan</cp:lastModifiedBy>
  <cp:revision>5</cp:revision>
  <dcterms:created xsi:type="dcterms:W3CDTF">2013-01-27T09:14:16Z</dcterms:created>
  <dcterms:modified xsi:type="dcterms:W3CDTF">2026-10-12T10:07:22Z</dcterms:modified>
  <cp:category/>
</cp:coreProperties>
</file>